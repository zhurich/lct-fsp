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65" r:id="rId2"/>
    <p:sldId id="366" r:id="rId3"/>
    <p:sldId id="362" r:id="rId4"/>
    <p:sldId id="364" r:id="rId5"/>
    <p:sldId id="375" r:id="rId6"/>
    <p:sldId id="268" r:id="rId7"/>
    <p:sldId id="371" r:id="rId8"/>
    <p:sldId id="267" r:id="rId9"/>
    <p:sldId id="262" r:id="rId10"/>
    <p:sldId id="271" r:id="rId11"/>
    <p:sldId id="260" r:id="rId12"/>
    <p:sldId id="266" r:id="rId13"/>
    <p:sldId id="264" r:id="rId14"/>
    <p:sldId id="263" r:id="rId15"/>
    <p:sldId id="377" r:id="rId16"/>
    <p:sldId id="272" r:id="rId17"/>
    <p:sldId id="376" r:id="rId18"/>
    <p:sldId id="372" r:id="rId19"/>
    <p:sldId id="374" r:id="rId20"/>
    <p:sldId id="370" r:id="rId21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  <p14:sldId id="268"/>
            <p14:sldId id="371"/>
            <p14:sldId id="267"/>
            <p14:sldId id="262"/>
            <p14:sldId id="271"/>
            <p14:sldId id="260"/>
            <p14:sldId id="266"/>
            <p14:sldId id="264"/>
            <p14:sldId id="263"/>
            <p14:sldId id="377"/>
            <p14:sldId id="272"/>
            <p14:sldId id="376"/>
            <p14:sldId id="372"/>
            <p14:sldId id="374"/>
            <p14:sldId id="370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07" d="100"/>
          <a:sy n="107" d="100"/>
        </p:scale>
        <p:origin x="660" y="126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Прошли тест, %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Sheet1!$A$2:$A$5</c:f>
              <c:strCache>
                <c:ptCount val="4"/>
                <c:pt idx="0">
                  <c:v>Без утечки</c:v>
                </c:pt>
                <c:pt idx="1">
                  <c:v>10 тестов</c:v>
                </c:pt>
                <c:pt idx="2">
                  <c:v>200 + мониторинг</c:v>
                </c:pt>
                <c:pt idx="3">
                  <c:v>200 тестов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32</c:v>
                </c:pt>
                <c:pt idx="2">
                  <c:v>46</c:v>
                </c:pt>
                <c:pt idx="3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C1D2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"/>
          <c:min val="0"/>
        </c:scaling>
        <c:delete val="0"/>
        <c:axPos val="b"/>
        <c:majorGridlines>
          <c:spPr>
            <a:ln w="9525" cap="flat" cmpd="sng" algn="ctr">
              <a:solidFill>
                <a:srgbClr val="D9D4E3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кандидатов, %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9-4320-A20C-3707168A026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9-4320-A20C-3707168A026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9-4320-A20C-3707168A0262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9-4320-A20C-3707168A0262}"/>
              </c:ext>
            </c:extLst>
          </c:dPt>
          <c:cat>
            <c:strRef>
              <c:f>Sheet1!$A$2:$A$4</c:f>
              <c:strCache>
                <c:ptCount val="3"/>
                <c:pt idx="0">
                  <c:v>Совпала с истинным грейдом</c:v>
                </c:pt>
                <c:pt idx="1">
                  <c:v>Выше истинного</c:v>
                </c:pt>
                <c:pt idx="2">
                  <c:v>Ниже или не присвоена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15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Подходят в топ-10, %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Случайный порядок</c:v>
                </c:pt>
                <c:pt idx="1">
                  <c:v>По резюме</c:v>
                </c:pt>
                <c:pt idx="2">
                  <c:v>Платформа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62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Слабее запроса в топ-10, %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Случайный порядок</c:v>
                </c:pt>
                <c:pt idx="1">
                  <c:v>По резюме</c:v>
                </c:pt>
                <c:pt idx="2">
                  <c:v>Платформа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</c:v>
                </c:pt>
                <c:pt idx="1">
                  <c:v>18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7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0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Одной фразой: категорию кандидата определяет тест, а не резюме, и на контакт выходит работодатель — с вилкой и условиями.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Раздел 1 ТЗ: универсальные площадки не формализуют стек и грейд, а резюме не подтверждает практическую компетентность.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Главный критерий — 35%. Отличие от площадок с откликами: кандидат не рассылает резюме, а работодатель не разбирает сотни откликов. Классический отклик на вакансию оставлен как дополнительный сценарий.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Шаги 1–2 — кабинет кандидата, 3–4 — кабинет работодателя, 5 — снова кандидат. Статусы приглашения: отправлено, просмотрено, принято, отклонено — их видят обе стороны.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Веса заданы в matching/ranking.py. Верхняя граница силы профиля 15% выбрана по валидации: при доле 40% в топ чаще попадали сильные, но хуже подходящие под запрос кандидаты.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Карточка кандидата из подборки «Бэкенд-разработчик в платежи» на демо-данных. Пример довода против: «Нет в стеке: Kafka»; сведение: «Близкий опыт: RabbitMQ вместо Kafka».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Критерий — 25%. Ответ на задания с кодом вычисляется выполнением того же кода, который показан кандидату. Каждое третье задание — профильное.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Симуляция: слабый кандидат (на грейд ниже границы) заучил ответы из K чужих тестов. Утечка снижена, но не исключена — главный рычаг здесь размер банка заданий.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Параметры заданий в симуляции намеренно отличаются от назначенных (сдвиг сложности 0,4 грейда, различающая способность ±25%), чтобы не проверять модель на самой себе. 23% кандидатов слабее заявленного проходят один тест — это предел текущего размера банка.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Основная таблица — при 35% завышающих грейд. По доле подходящих в топе платформа почти равна ранжированию по резюме (60% против 62%), зато кандидатов слабее запроса в топе в 1,5–4 раза меньше — именно на них уходит время технических специалистов.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ФСП ID и реестр заменены моками за контрактами FspIdProvider и FspRegistry: для настоящего Keycloak нужно реализовать по два метода, маршруты и интерфейс не меняются. Все участия вместе весят не больше 0,2 — профиль нельзя «набить» явками.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Скриншоты сняты с работающего приложения на демо-данных, экран 390×892: интерфейс адаптирован под мобильные устройства. На защите эти шаги показываются вживую.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Критерий «дополнительный функционал» — 7%: вакансии и отклик, регулярные задания, адаптивная вёрстка реализованы; защита от недобросовестных работодателей и интеграция с ATS описаны как концепция в документации.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Монолит выбран осознанно. Ядра assessment/adaptive.py и matching/ranking.py не зависят от базы и веб-слоя и при необходимости выносятся в отдельные сервисы. Сборка в Docker на машине разработчика не проверялась.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Пределы названы прямо: один тест принимает верное решение в 81% случаев, данные валидации синтетические, мобильная вёрстка на устройствах отдельно не тестировалась.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Чистая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прохождения</a:t>
            </a:r>
            <a:r>
              <a:rPr dirty="0"/>
              <a:t> </a:t>
            </a:r>
            <a:r>
              <a:rPr dirty="0" err="1"/>
              <a:t>теста</a:t>
            </a:r>
            <a:r>
              <a:rPr dirty="0"/>
              <a:t> с </a:t>
            </a:r>
            <a:r>
              <a:rPr dirty="0" err="1"/>
              <a:t>начала</a:t>
            </a:r>
            <a:r>
              <a:rPr dirty="0"/>
              <a:t> — demo-newcomer@example.com. </a:t>
            </a:r>
            <a:r>
              <a:rPr dirty="0" err="1"/>
              <a:t>Вход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демонстрационный</a:t>
            </a:r>
            <a:r>
              <a:rPr dirty="0"/>
              <a:t> ФСП ID: </a:t>
            </a:r>
            <a:r>
              <a:rPr dirty="0" err="1"/>
              <a:t>любая</a:t>
            </a:r>
            <a:r>
              <a:rPr dirty="0"/>
              <a:t> </a:t>
            </a:r>
            <a:r>
              <a:rPr dirty="0" err="1"/>
              <a:t>почта</a:t>
            </a:r>
            <a:r>
              <a:rPr dirty="0"/>
              <a:t>, </a:t>
            </a:r>
            <a:r>
              <a:rPr dirty="0" err="1"/>
              <a:t>пароль</a:t>
            </a:r>
            <a:r>
              <a:rPr dirty="0"/>
              <a:t> </a:t>
            </a:r>
            <a:r>
              <a:rPr dirty="0" err="1"/>
              <a:t>fsp</a:t>
            </a:r>
            <a:r>
              <a:rPr dirty="0"/>
              <a:t>-demo.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стенде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включается</a:t>
            </a:r>
            <a:r>
              <a:rPr dirty="0"/>
              <a:t> DEMO_MODE: </a:t>
            </a:r>
            <a:r>
              <a:rPr dirty="0" err="1"/>
              <a:t>регистрация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письма</a:t>
            </a:r>
            <a:r>
              <a:rPr dirty="0"/>
              <a:t> и </a:t>
            </a:r>
            <a:r>
              <a:rPr dirty="0" err="1"/>
              <a:t>сброс</a:t>
            </a:r>
            <a:r>
              <a:rPr dirty="0"/>
              <a:t> </a:t>
            </a:r>
            <a:r>
              <a:rPr dirty="0" err="1"/>
              <a:t>попыток</a:t>
            </a:r>
            <a:r>
              <a:rPr dirty="0"/>
              <a:t> </a:t>
            </a:r>
            <a:r>
              <a:rPr dirty="0" err="1"/>
              <a:t>теста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11.10.2026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11.10.2026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11.10.2026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11.10.2026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11.10.2026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11.10.2026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3600" dirty="0"/>
              <a:t>Команда «</a:t>
            </a:r>
            <a:r>
              <a:rPr lang="en-US" sz="3600" dirty="0" err="1"/>
              <a:t>PragmatismForever</a:t>
            </a:r>
            <a:r>
              <a:rPr lang="ru-RU" sz="3600" dirty="0"/>
              <a:t>»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481701"/>
            <a:ext cx="8930641" cy="757174"/>
          </a:xfrm>
        </p:spPr>
        <p:txBody>
          <a:bodyPr anchor="ctr"/>
          <a:lstStyle/>
          <a:p>
            <a:pPr marL="268288" indent="0"/>
            <a:r>
              <a:rPr lang="ru-RU" dirty="0"/>
              <a:t>Специальный трек ФСП «Цифровая платформа-агрегатор ИТ-вакансий с верифицированным профилем достижений участника ФСП»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25" name="Picture 5" descr="Image_3.png">
            <a:extLst>
              <a:ext uri="{FF2B5EF4-FFF2-40B4-BE49-F238E27FC236}">
                <a16:creationId xmlns:a16="http://schemas.microsoft.com/office/drawing/2014/main" id="{A4240264-4888-666D-19AB-8FB59162A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61" y="560338"/>
            <a:ext cx="2374750" cy="79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7978403-8AF5-61EE-0E09-C2000002BE7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6" r="46"/>
          <a:stretch/>
        </p:blipFill>
        <p:spPr>
          <a:xfrm>
            <a:off x="0" y="334963"/>
            <a:ext cx="6456363" cy="2971800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dirty="0">
                <a:solidFill>
                  <a:srgbClr val="1C1D22"/>
                </a:solidFill>
              </a:rPr>
              <a:t>Инициатива у работодателя, а уровень подтверждён тестом, а не резюме: задания генерируются заново при каждой выдаче. Контакты кандидата открываются только после его согласия.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Журавлёв Денис Алексеевич, </a:t>
            </a:r>
            <a:r>
              <a:rPr lang="en-US" dirty="0">
                <a:solidFill>
                  <a:schemeClr val="tx1"/>
                </a:solidFill>
              </a:rPr>
              <a:t>Frontend-</a:t>
            </a:r>
            <a:r>
              <a:rPr lang="ru-RU" dirty="0">
                <a:solidFill>
                  <a:schemeClr val="tx1"/>
                </a:solidFill>
              </a:rPr>
              <a:t>разработчик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Вдвоем участвуем в различных хакатонах, решили попробовать свои силы в ЛЦТ-2026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Лига Цифровой Экономики</a:t>
            </a:r>
            <a:r>
              <a:rPr lang="en-US" i="1" dirty="0">
                <a:solidFill>
                  <a:schemeClr val="tx1"/>
                </a:solidFill>
              </a:rPr>
              <a:t>;</a:t>
            </a:r>
            <a:r>
              <a:rPr lang="ru-RU" i="1" dirty="0">
                <a:solidFill>
                  <a:schemeClr val="tx1"/>
                </a:solidFill>
              </a:rPr>
              <a:t> МИИГАиК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761011" cy="101512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  <a:latin typeface="+mn-lt"/>
              </a:rPr>
              <a:t>Команда</a:t>
            </a:r>
            <a:br>
              <a:rPr lang="ru-RU" sz="2400" dirty="0">
                <a:solidFill>
                  <a:schemeClr val="accent5"/>
                </a:solidFill>
                <a:latin typeface="+mn-lt"/>
              </a:rPr>
            </a:br>
            <a:r>
              <a:rPr lang="ru-RU" sz="2400" dirty="0">
                <a:solidFill>
                  <a:schemeClr val="accent5"/>
                </a:solidFill>
                <a:latin typeface="+mn-lt"/>
              </a:rPr>
              <a:t>«</a:t>
            </a:r>
            <a:r>
              <a:rPr lang="en-US" sz="2400" dirty="0" err="1">
                <a:solidFill>
                  <a:schemeClr val="accent5"/>
                </a:solidFill>
                <a:latin typeface="+mn-lt"/>
              </a:rPr>
              <a:t>PragmatismForever</a:t>
            </a:r>
            <a:r>
              <a:rPr lang="ru-RU" sz="2400" dirty="0">
                <a:solidFill>
                  <a:schemeClr val="accent5"/>
                </a:solidFill>
                <a:latin typeface="+mn-lt"/>
              </a:rPr>
              <a:t>»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dirty="0">
                <a:solidFill>
                  <a:srgbClr val="1C1D22"/>
                </a:solidFill>
              </a:rPr>
              <a:t>Веб-платформа «ФСП Карьера»: кандидат подтверждает грейд адаптивным тестом и получает категорию, а работодатель сам находит его и присылает приглашение с зарплатной вилкой.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920470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Системный аналитик, тестировщик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C1D22"/>
                </a:solidFill>
              </a:rPr>
              <a:t>@Valentin_Maevskiy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1C1D22"/>
                </a:solidFill>
              </a:rPr>
              <a:t>+7 985 785-73-00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МИИГАиК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Валентин Маевский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356FF50-CF37-C9BB-E73E-441F8B8FF95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4931" b="4931"/>
          <a:stretch/>
        </p:blipFill>
        <p:spPr>
          <a:xfrm>
            <a:off x="581025" y="1816100"/>
            <a:ext cx="1722438" cy="15525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34EF74-EC54-BBBB-1B64-C3AF17D1B193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16440" b="16440"/>
          <a:stretch/>
        </p:blipFill>
        <p:spPr>
          <a:xfrm>
            <a:off x="2886075" y="1827213"/>
            <a:ext cx="1722438" cy="1541462"/>
          </a:xfrm>
          <a:prstGeom prst="rect">
            <a:avLst/>
          </a:prstGeom>
        </p:spPr>
      </p:pic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 sz="1600" dirty="0">
                <a:latin typeface="+mn-lt"/>
              </a:rPr>
              <a:t>Команда «</a:t>
            </a:r>
            <a:r>
              <a:rPr lang="en-US" sz="1600" dirty="0" err="1">
                <a:latin typeface="+mn-lt"/>
              </a:rPr>
              <a:t>PragmatismForever</a:t>
            </a:r>
            <a:r>
              <a:rPr lang="ru-RU" sz="1600" dirty="0">
                <a:latin typeface="+mn-lt"/>
              </a:rPr>
              <a:t>»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Frontend-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@Zhurich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+7 916 932-66-67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Лига Цифровой Экономики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Денис Журавлёв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 sz="1600" dirty="0"/>
              <a:t>Команда «</a:t>
            </a:r>
            <a:r>
              <a:rPr lang="en-US" sz="1600" dirty="0" err="1"/>
              <a:t>PragmatismForever</a:t>
            </a:r>
            <a:r>
              <a:rPr lang="ru-RU" sz="1600" dirty="0"/>
              <a:t>»</a:t>
            </a:r>
            <a:endParaRPr lang="ru-RU" sz="1600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chemeClr val="tx1"/>
                </a:solidFill>
              </a:rPr>
              <a:t>Вдвоем участвуем в различных хакатонах: </a:t>
            </a:r>
            <a:r>
              <a:rPr lang="ru-RU" dirty="0" err="1">
                <a:solidFill>
                  <a:schemeClr val="tx1"/>
                </a:solidFill>
              </a:rPr>
              <a:t>МосТранспортТех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РЛТХак</a:t>
            </a:r>
            <a:r>
              <a:rPr lang="ru-RU" dirty="0">
                <a:solidFill>
                  <a:schemeClr val="tx1"/>
                </a:solidFill>
              </a:rPr>
              <a:t>. В этом году решили попробовать свои силы на ЛЦТ-2026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ru-RU" b="1" dirty="0">
                <a:solidFill>
                  <a:srgbClr val="1C1D22"/>
                </a:solidFill>
              </a:rPr>
              <a:t>Нет эталонной разметки: </a:t>
            </a:r>
            <a:r>
              <a:rPr lang="en-US" dirty="0">
                <a:solidFill>
                  <a:srgbClr val="1C1D22"/>
                </a:solidFill>
              </a:rPr>
              <a:t>сгенерировали 2000 кандидатов со скрытым уровнем и сверяем выводы платформы с ним.</a:t>
            </a:r>
            <a:endParaRPr lang="ru-RU" dirty="0">
              <a:solidFill>
                <a:schemeClr val="tx1"/>
              </a:solidFill>
            </a:endParaRPr>
          </a:p>
          <a:p>
            <a:pPr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ru-RU" b="1" dirty="0">
                <a:solidFill>
                  <a:srgbClr val="1C1D22"/>
                </a:solidFill>
              </a:rPr>
              <a:t>Нет доступа к LLM и API ФСП: </a:t>
            </a:r>
            <a:r>
              <a:rPr lang="ru-RU" dirty="0">
                <a:solidFill>
                  <a:srgbClr val="1C1D22"/>
                </a:solidFill>
              </a:rPr>
              <a:t>разбор текста — правила и словари, ФСП ID и реестр — моки за контрактами.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dirty="0">
                <a:solidFill>
                  <a:srgbClr val="1C1D22"/>
                </a:solidFill>
              </a:rPr>
              <a:t>Резюме написано со слов кандидата и уровень не подтверждает. Хотелось измерить грейд тестом, который нельзя списать, и развернуть подбор: работодатель приходит сам.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Autofit/>
          </a:bodyPr>
          <a:lstStyle/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ru-RU" sz="1600" b="1" dirty="0">
                <a:solidFill>
                  <a:srgbClr val="1C1D22"/>
                </a:solidFill>
              </a:rPr>
              <a:t>FastAPI + PostgreSQL, React + TypeScript, </a:t>
            </a:r>
            <a:r>
              <a:rPr lang="ru-RU" sz="1600" dirty="0">
                <a:solidFill>
                  <a:srgbClr val="1C1D22"/>
                </a:solidFill>
              </a:rPr>
              <a:t>упаковка в Docker Compose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ru-RU" sz="1600" b="1" dirty="0">
                <a:solidFill>
                  <a:srgbClr val="1C1D22"/>
                </a:solidFill>
              </a:rPr>
              <a:t>Адаптивный тест на IRT (3PL): </a:t>
            </a:r>
            <a:r>
              <a:rPr lang="ru-RU" sz="1600" dirty="0">
                <a:solidFill>
                  <a:srgbClr val="1C1D22"/>
                </a:solidFill>
              </a:rPr>
              <a:t>12–18 заданий из параметризованного банка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ru-RU" sz="1600" b="1" dirty="0">
                <a:solidFill>
                  <a:srgbClr val="1C1D22"/>
                </a:solidFill>
              </a:rPr>
              <a:t>Ранжирование с объяснением: </a:t>
            </a:r>
            <a:r>
              <a:rPr lang="ru-RU" sz="1600" dirty="0">
                <a:solidFill>
                  <a:srgbClr val="1C1D22"/>
                </a:solidFill>
              </a:rPr>
              <a:t>85% — соответствие запросу, до 15% — сила профиля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ru-RU" sz="1600" b="1" dirty="0">
                <a:solidFill>
                  <a:srgbClr val="1C1D22"/>
                </a:solidFill>
              </a:rPr>
              <a:t>70 автотестов </a:t>
            </a:r>
            <a:r>
              <a:rPr lang="ru-RU" sz="1600" dirty="0">
                <a:solidFill>
                  <a:srgbClr val="1C1D22"/>
                </a:solidFill>
              </a:rPr>
              <a:t>и валидация на 2000 синтетических кандидатов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ru-RU" sz="1600" b="1" dirty="0">
                <a:solidFill>
                  <a:srgbClr val="1C1D22"/>
                </a:solidFill>
              </a:rPr>
              <a:t>OpenAPI и 152-ФЗ: </a:t>
            </a:r>
            <a:r>
              <a:rPr lang="ru-RU" sz="1600" dirty="0">
                <a:solidFill>
                  <a:srgbClr val="1C1D22"/>
                </a:solidFill>
              </a:rPr>
              <a:t>роли, согласия, argon2, JWT в httpOnly-cookie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ru-RU" sz="1600" b="1" dirty="0">
                <a:solidFill>
                  <a:srgbClr val="1C1D22"/>
                </a:solidFill>
              </a:rPr>
              <a:t>Работодателю: </a:t>
            </a:r>
            <a:r>
              <a:rPr lang="ru-RU" sz="1600" dirty="0">
                <a:solidFill>
                  <a:srgbClr val="1C1D22"/>
                </a:solidFill>
              </a:rPr>
              <a:t>проверенные кандидаты вместо сотен нерелевантных откликов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ru-RU" sz="1600" b="1" dirty="0">
                <a:solidFill>
                  <a:srgbClr val="1C1D22"/>
                </a:solidFill>
              </a:rPr>
              <a:t>Кандидату: </a:t>
            </a:r>
            <a:r>
              <a:rPr lang="ru-RU" sz="1600" dirty="0">
                <a:solidFill>
                  <a:srgbClr val="1C1D22"/>
                </a:solidFill>
              </a:rPr>
              <a:t>вилка и условия видны до начала общения, контакты под его контролем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ru-RU" sz="1600" b="1" dirty="0">
                <a:solidFill>
                  <a:srgbClr val="1C1D22"/>
                </a:solidFill>
              </a:rPr>
              <a:t>Участнику ФСП: </a:t>
            </a:r>
            <a:r>
              <a:rPr lang="ru-RU" sz="1600" dirty="0">
                <a:solidFill>
                  <a:srgbClr val="1C1D22"/>
                </a:solidFill>
              </a:rPr>
              <a:t>спортивные результаты становятся карьерным преимуществом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ru-RU" sz="1600" b="1" dirty="0">
                <a:solidFill>
                  <a:srgbClr val="1C1D22"/>
                </a:solidFill>
              </a:rPr>
              <a:t>Федерации: </a:t>
            </a:r>
            <a:r>
              <a:rPr lang="ru-RU" sz="1600" dirty="0">
                <a:solidFill>
                  <a:srgbClr val="1C1D22"/>
                </a:solidFill>
              </a:rPr>
              <a:t>готовые контракты под ФСП ID на Keycloak и реестр достижений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Font typeface="Arial"/>
              <a:buChar char="•"/>
            </a:pPr>
            <a:r>
              <a:rPr lang="ru-RU" sz="1600" b="1" dirty="0">
                <a:solidFill>
                  <a:srgbClr val="1C1D22"/>
                </a:solidFill>
              </a:rPr>
              <a:t>Без штрафа новичкам: </a:t>
            </a:r>
            <a:r>
              <a:rPr lang="ru-RU" sz="1600" dirty="0">
                <a:solidFill>
                  <a:srgbClr val="1C1D22"/>
                </a:solidFill>
              </a:rPr>
              <a:t>нет истории ФСП — нейтрально, решает тест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15311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301752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 dirty="0">
                <a:solidFill>
                  <a:srgbClr val="520977"/>
                </a:solidFill>
              </a:rPr>
              <a:t>Проблема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 dirty="0">
                <a:solidFill>
                  <a:srgbClr val="1C1D22"/>
                </a:solidFill>
              </a:rPr>
              <a:t>Кандидат откликается вслепую, работодатель вручную отсеивает нерелевантные отклики. Резюме перечисляет стек, но не подтверждает уровень.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301752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 dirty="0">
                <a:solidFill>
                  <a:srgbClr val="520977"/>
                </a:solidFill>
              </a:rPr>
              <a:t>Для кого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 dirty="0">
                <a:solidFill>
                  <a:srgbClr val="1C1D22"/>
                </a:solidFill>
              </a:rPr>
              <a:t>ИТ-специалисты от стажёра до senior, включая участников соревнований ФСП, и компании, которые нанимают в 7 специализациях.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301752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 dirty="0">
                <a:solidFill>
                  <a:srgbClr val="520977"/>
                </a:solidFill>
              </a:rPr>
              <a:t>Что изменится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 dirty="0">
                <a:solidFill>
                  <a:srgbClr val="1C1D22"/>
                </a:solidFill>
              </a:rPr>
              <a:t>Работодатель видит категорию по тесту и объяснение подборки. Кандидат получает предложение с вилкой и сам решает, открыть ли контакты.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24562"/>
            <a:ext cx="3878798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FFFFFF"/>
                </a:solidFill>
              </a:rPr>
              <a:t>ПРОБЛЕМА И АУДИТОРИЯ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6957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77440"/>
            <a:ext cx="2284071" cy="731520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900" b="1" dirty="0">
                <a:solidFill>
                  <a:srgbClr val="520977"/>
                </a:solidFill>
              </a:rPr>
              <a:t>Категорию даёт тест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54680"/>
            <a:ext cx="2284071" cy="2651760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 dirty="0">
                <a:solidFill>
                  <a:srgbClr val="1C1D22"/>
                </a:solidFill>
              </a:rPr>
              <a:t>Опрос, выбор грейда и адаптивный тест. Резюме на категорию не влияет.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7440"/>
            <a:ext cx="2337416" cy="731520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900" b="1" dirty="0">
                <a:solidFill>
                  <a:srgbClr val="520977"/>
                </a:solidFill>
              </a:rPr>
              <a:t>Инициатива у компании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54680"/>
            <a:ext cx="2337416" cy="2651760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 dirty="0">
                <a:solidFill>
                  <a:srgbClr val="1C1D22"/>
                </a:solidFill>
              </a:rPr>
              <a:t>Работодатель описывает потребность, получает подборку и сам приглашает кандидата.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7440"/>
            <a:ext cx="2268537" cy="731520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900" b="1" dirty="0">
                <a:solidFill>
                  <a:srgbClr val="520977"/>
                </a:solidFill>
              </a:rPr>
              <a:t>Условия до общения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54680"/>
            <a:ext cx="2268537" cy="2651760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 dirty="0">
                <a:solidFill>
                  <a:srgbClr val="1C1D22"/>
                </a:solidFill>
              </a:rPr>
              <a:t>В приглашении обязательны вилка, описание, компания и способ связи.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77440"/>
            <a:ext cx="2263553" cy="731520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900" b="1" dirty="0">
                <a:solidFill>
                  <a:srgbClr val="520977"/>
                </a:solidFill>
              </a:rPr>
              <a:t>Контакты после согласия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54680"/>
            <a:ext cx="2263553" cy="2651760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700" b="0" dirty="0">
                <a:solidFill>
                  <a:srgbClr val="1C1D22"/>
                </a:solidFill>
              </a:rPr>
              <a:t>До принятия приглашения карточка обезличена: имя и контакты закрыты.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24562"/>
            <a:ext cx="3416300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dirty="0">
                <a:solidFill>
                  <a:srgbClr val="FFFFFF"/>
                </a:solidFill>
              </a:rPr>
              <a:t>ОБРАТНАЯ МЕХАНИКА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6957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411480"/>
          </a:xfrm>
          <a:prstGeom prst="roundRect">
            <a:avLst>
              <a:gd name="adj" fmla="val 0"/>
            </a:avLst>
          </a:prstGeom>
          <a:noFill/>
        </p:spPr>
        <p:txBody>
          <a:bodyPr wrap="square" lIns="109728" tIns="73152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dirty="0">
                <a:solidFill>
                  <a:srgbClr val="520977"/>
                </a:solidFill>
              </a:rPr>
              <a:t>Опрос и тест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69555"/>
            <a:ext cx="2526079" cy="1005840"/>
          </a:xfrm>
        </p:spPr>
        <p:txBody>
          <a:bodyPr wrap="square" lIns="109728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Специализация, стек и грейд; 12–18 заданий по одному, до 30 минут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411480"/>
          </a:xfrm>
          <a:prstGeom prst="roundRect">
            <a:avLst>
              <a:gd name="adj" fmla="val 0"/>
            </a:avLst>
          </a:prstGeom>
          <a:noFill/>
        </p:spPr>
        <p:txBody>
          <a:bodyPr wrap="square" lIns="109728" tIns="73152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dirty="0">
                <a:solidFill>
                  <a:srgbClr val="520977"/>
                </a:solidFill>
              </a:rPr>
              <a:t>Потребность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69555"/>
            <a:ext cx="2526079" cy="1005840"/>
          </a:xfrm>
        </p:spPr>
        <p:txBody>
          <a:bodyPr wrap="square" lIns="109728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Свободный текст разбирается в специализацию, грейд, стек, формат и вилку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411480"/>
          </a:xfrm>
          <a:prstGeom prst="roundRect">
            <a:avLst>
              <a:gd name="adj" fmla="val 0"/>
            </a:avLst>
          </a:prstGeom>
          <a:noFill/>
        </p:spPr>
        <p:txBody>
          <a:bodyPr wrap="square" lIns="109728" tIns="73152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dirty="0">
                <a:solidFill>
                  <a:srgbClr val="520977"/>
                </a:solidFill>
              </a:rPr>
              <a:t>Ответ и контакты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69555"/>
            <a:ext cx="2526079" cy="1005840"/>
          </a:xfrm>
        </p:spPr>
        <p:txBody>
          <a:bodyPr wrap="square" lIns="109728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Кандидат принимает или отклоняет; после принятия открываются имя и контакты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411480"/>
          </a:xfrm>
          <a:prstGeom prst="roundRect">
            <a:avLst>
              <a:gd name="adj" fmla="val 0"/>
            </a:avLst>
          </a:prstGeom>
          <a:noFill/>
        </p:spPr>
        <p:txBody>
          <a:bodyPr wrap="square" lIns="109728" tIns="73152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dirty="0">
                <a:solidFill>
                  <a:srgbClr val="520977"/>
                </a:solidFill>
              </a:rPr>
              <a:t>Категория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236818"/>
            <a:ext cx="2526079" cy="1005840"/>
          </a:xfrm>
        </p:spPr>
        <p:txBody>
          <a:bodyPr wrap="square" lIns="109728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Специализация × грейд — только по результату теста; публикация с согласия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411480"/>
          </a:xfrm>
          <a:prstGeom prst="roundRect">
            <a:avLst>
              <a:gd name="adj" fmla="val 0"/>
            </a:avLst>
          </a:prstGeom>
          <a:noFill/>
        </p:spPr>
        <p:txBody>
          <a:bodyPr wrap="square" lIns="109728" tIns="73152" bIns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dirty="0">
                <a:solidFill>
                  <a:srgbClr val="520977"/>
                </a:solidFill>
              </a:rPr>
              <a:t>Приглашение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236818"/>
            <a:ext cx="2526079" cy="1005840"/>
          </a:xfrm>
        </p:spPr>
        <p:txBody>
          <a:bodyPr wrap="square" lIns="109728" bIns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Ранжирование с объяснением; приглашение с вилкой — конкретному кандидату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24562"/>
            <a:ext cx="3416300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dirty="0">
                <a:solidFill>
                  <a:srgbClr val="FFFFFF"/>
                </a:solidFill>
              </a:rPr>
              <a:t>СКВОЗНОЙ СЦЕНАРИЙ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27432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600200"/>
            <a:ext cx="4734175" cy="4480560"/>
          </a:xfr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800" b="1" dirty="0">
                <a:solidFill>
                  <a:srgbClr val="520977"/>
                </a:solidFill>
              </a:rPr>
              <a:t>Соответствие запросу — 85%</a:t>
            </a:r>
            <a:endParaRPr lang="ru-RU" sz="3600" b="1">
              <a:solidFill>
                <a:schemeClr val="tx1"/>
              </a:solidFill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dirty="0">
                <a:solidFill>
                  <a:srgbClr val="1C1D22"/>
                </a:solidFill>
              </a:rPr>
              <a:t>Стек: </a:t>
            </a:r>
            <a:r>
              <a:rPr sz="1500" b="0" dirty="0">
                <a:solidFill>
                  <a:srgbClr val="1C1D22"/>
                </a:solidFill>
              </a:rPr>
              <a:t>0,45; близкая технология закрывает требование наполовину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dirty="0">
                <a:solidFill>
                  <a:srgbClr val="1C1D22"/>
                </a:solidFill>
              </a:rPr>
              <a:t>Грейд: </a:t>
            </a:r>
            <a:r>
              <a:rPr sz="1500" b="0" dirty="0">
                <a:solidFill>
                  <a:srgbClr val="1C1D22"/>
                </a:solidFill>
              </a:rPr>
              <a:t>0,40; смежный грейд — с половинным весом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dirty="0">
                <a:solidFill>
                  <a:srgbClr val="1C1D22"/>
                </a:solidFill>
              </a:rPr>
              <a:t>Формат работы: </a:t>
            </a:r>
            <a:r>
              <a:rPr sz="1500" b="0" dirty="0">
                <a:solidFill>
                  <a:srgbClr val="1C1D22"/>
                </a:solidFill>
              </a:rPr>
              <a:t>0,15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2200"/>
              </a:spcAft>
              <a:buNone/>
            </a:pPr>
            <a:r>
              <a:rPr sz="1300" b="0" dirty="0">
                <a:solidFill>
                  <a:srgbClr val="555560"/>
                </a:solidFill>
              </a:rPr>
              <a:t>Незаданные требования не учитываются и оценку не занижают</a:t>
            </a: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800" b="1" dirty="0">
                <a:solidFill>
                  <a:srgbClr val="520977"/>
                </a:solidFill>
              </a:rPr>
              <a:t>Сила профиля — до 15%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dirty="0">
                <a:solidFill>
                  <a:srgbClr val="1C1D22"/>
                </a:solidFill>
              </a:rPr>
              <a:t>Балл теста: </a:t>
            </a:r>
            <a:r>
              <a:rPr sz="1500" b="0" dirty="0">
                <a:solidFill>
                  <a:srgbClr val="1C1D22"/>
                </a:solidFill>
              </a:rPr>
              <a:t>0,60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dirty="0">
                <a:solidFill>
                  <a:srgbClr val="1C1D22"/>
                </a:solidFill>
              </a:rPr>
              <a:t>Достижения ФСП: </a:t>
            </a:r>
            <a:r>
              <a:rPr sz="1500" b="0" dirty="0">
                <a:solidFill>
                  <a:srgbClr val="1C1D22"/>
                </a:solidFill>
              </a:rPr>
              <a:t>0,25</a:t>
            </a: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500" b="1" dirty="0">
                <a:solidFill>
                  <a:srgbClr val="1C1D22"/>
                </a:solidFill>
              </a:rPr>
              <a:t>Актуальность: </a:t>
            </a:r>
            <a:r>
              <a:rPr sz="1500" b="0" dirty="0">
                <a:solidFill>
                  <a:srgbClr val="1C1D22"/>
                </a:solidFill>
              </a:rPr>
              <a:t>0,15; тест или ответ на задание за 90 дней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dirty="0">
                <a:solidFill>
                  <a:srgbClr val="520977"/>
                </a:solidFill>
              </a:rPr>
              <a:t>Сила профиля только упорядочивает равных. </a:t>
            </a:r>
            <a:r>
              <a:rPr sz="1300" b="0" dirty="0">
                <a:solidFill>
                  <a:srgbClr val="1C1D22"/>
                </a:solidFill>
              </a:rPr>
              <a:t>Её вес — не больше 90% «цены» одного требования запроса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dirty="0">
                <a:solidFill>
                  <a:srgbClr val="520977"/>
                </a:solidFill>
              </a:rPr>
              <a:t>Полный стек всегда выше. </a:t>
            </a:r>
            <a:r>
              <a:rPr sz="1300" b="0" dirty="0">
                <a:solidFill>
                  <a:srgbClr val="1C1D22"/>
                </a:solidFill>
              </a:rPr>
              <a:t>Кандидат без нужной технологии не обгонит того, у кого стек закрыт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dirty="0">
                <a:solidFill>
                  <a:srgbClr val="520977"/>
                </a:solidFill>
              </a:rPr>
              <a:t>Нет истории ФСП — нейтрально. </a:t>
            </a:r>
            <a:r>
              <a:rPr sz="1300" b="0" dirty="0">
                <a:solidFill>
                  <a:srgbClr val="1C1D22"/>
                </a:solidFill>
              </a:rPr>
              <a:t>Надбавки нет, штрафа нет, в объяснении это не упоминается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dirty="0">
                <a:solidFill>
                  <a:srgbClr val="520977"/>
                </a:solidFill>
              </a:rPr>
              <a:t>Неподтверждённый грейд — отдельным списком </a:t>
            </a:r>
            <a:r>
              <a:rPr sz="1300" b="0" dirty="0">
                <a:solidFill>
                  <a:srgbClr val="1C1D22"/>
                </a:solidFill>
              </a:rPr>
              <a:t>после подборки и без оценки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dirty="0">
                <a:solidFill>
                  <a:srgbClr val="520977"/>
                </a:solidFill>
              </a:rPr>
              <a:t>Фильтры не ломают подборку. </a:t>
            </a:r>
            <a:r>
              <a:rPr sz="1300" b="0" dirty="0">
                <a:solidFill>
                  <a:srgbClr val="1C1D22"/>
                </a:solidFill>
              </a:rPr>
              <a:t>Они накладываются поверх и не меняют ни оценки, ни порядок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18156"/>
            <a:ext cx="2463800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dirty="0">
                <a:solidFill>
                  <a:srgbClr val="FFFFFF"/>
                </a:solidFill>
              </a:rPr>
              <a:t>РАНЖИРОВАНИЕ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32352E2-54BA-705C-C9BB-328B5BDEF2D2}"/>
              </a:ext>
            </a:extLst>
          </p:cNvPr>
          <p:cNvSpPr/>
          <p:nvPr/>
        </p:nvSpPr>
        <p:spPr>
          <a:xfrm>
            <a:off x="346075" y="324562"/>
            <a:ext cx="40767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" name="Рисунок 1" descr="shop-confirm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3680" b="3680"/>
          <a:stretch>
            <a:fillRect/>
          </a:stretch>
        </p:blipFill>
        <p:spPr>
          <a:xfrm>
            <a:off x="5009872" y="1235915"/>
            <a:ext cx="2172255" cy="4602697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ED043264-47A7-41A8-BD39-44764904AB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45720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dirty="0">
                <a:solidFill>
                  <a:srgbClr val="FF0053"/>
                </a:solidFill>
              </a:rPr>
              <a:t>Обезличенная карточка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760666-5FA0-4D8C-AB12-AC2144A466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52763"/>
            <a:ext cx="3812931" cy="1290596"/>
          </a:xfrm>
        </p:spPr>
        <p:txBody>
          <a:bodyPr wrap="square" l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1C1D22"/>
                </a:solidFill>
              </a:rPr>
              <a:t>Номер, категория, стаж и стек. Имя и контакты закрыты до согласия кандидата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4149DD-AEA5-4B34-B1C7-7F98E296C6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45720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dirty="0">
                <a:solidFill>
                  <a:srgbClr val="520977"/>
                </a:solidFill>
              </a:rPr>
              <a:t>Оценка от 0 до 100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0E3C014-67F9-4CD2-9DAD-DD9229F6DB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52763"/>
            <a:ext cx="3812931" cy="1290596"/>
          </a:xfrm>
        </p:spPr>
        <p:txBody>
          <a:bodyPr wrap="square" l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1C1D22"/>
                </a:solidFill>
              </a:rPr>
              <a:t>Итог и разбивка: грейд, стек, формат, тест, достижения ФСП, актуальность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C941A72-EFAF-44F7-BEB7-6AB833109C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45720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dirty="0">
                <a:solidFill>
                  <a:srgbClr val="520977"/>
                </a:solidFill>
              </a:rPr>
              <a:t>Доводы со знаком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455AC49-3B10-4E7B-8E60-B114266B10E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76078"/>
            <a:ext cx="3812931" cy="1290596"/>
          </a:xfrm>
        </p:spPr>
        <p:txBody>
          <a:bodyPr wrap="square" l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1C1D22"/>
                </a:solidFill>
              </a:rPr>
              <a:t>За, против и сведение: видны не только сильные стороны, но и то, чего не хватает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BBC9E7C-9583-4A41-9E75-CEE9530DD8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45720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dirty="0">
                <a:solidFill>
                  <a:srgbClr val="FF0053"/>
                </a:solidFill>
              </a:rPr>
              <a:t>Место в категории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A3A59F4-773A-4619-B45C-1B0EA46D9BB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76078"/>
            <a:ext cx="3812931" cy="1290596"/>
          </a:xfrm>
        </p:spPr>
        <p:txBody>
          <a:bodyPr wrap="square" l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1C1D22"/>
                </a:solidFill>
              </a:rPr>
              <a:t>Балл теста сравнивается с кандидатами той же категории — от пяти человек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3FE28FC6-A9E9-4F9B-8446-38D1CD450EF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A4EDC46-4F2C-4275-9CDC-2BD481E430A8}"/>
              </a:ext>
            </a:extLst>
          </p:cNvPr>
          <p:cNvGrpSpPr/>
          <p:nvPr/>
        </p:nvGrpSpPr>
        <p:grpSpPr>
          <a:xfrm>
            <a:off x="4951937" y="1208819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ADC314F-9F19-4FEA-97AD-07F26F51B620}"/>
                </a:ext>
              </a:extLst>
            </p:cNvPr>
            <p:cNvSpPr/>
            <p:nvPr/>
          </p:nvSpPr>
          <p:spPr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376E7FEE-0EB1-4746-9DDD-1684A7001A8E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A8C3F5C7-7636-41A4-BA80-3491804B8786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811CD315-417D-43F3-86F1-90773170876F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2BB8CDF7-2F1E-4B42-A7CD-D11EC8EDA406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68B6A556-7D40-478D-84FB-4EF0FC7DA59F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12827976-DC27-4EAF-8E52-EBEFEC7E0761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6530F195-F566-483B-94CE-768CC428E39B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18CA254A-9E3B-4352-82B2-BA84B9F413EC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4273616-0536-4E9E-A4BE-5D7114D4C4E6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81AF835D-BC32-4CF6-9D53-BC9BE3935788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668C5EB7-3AC0-4913-B7E5-76B46FFF714C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18FAB6AC-0AD1-4123-96B1-6FDD727A66D6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E0079DE2-1327-4F2F-A9D1-235DB5B2BB66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8563A0D3-DD5F-48FE-8A05-4C2D704CE07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8452619C-3E15-4DC5-AB4B-6C88B9322F6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824479CF-8277-41BF-A7D4-9E38E5D3A492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0B62DAC2-F1F4-4ECF-851D-BEC23148FE5D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45311E48-AC2A-4A80-A65A-D356CC01C1AC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104AE29B-276D-4F69-9E54-6CBD0BE75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4FAE68B0-E6D3-4A99-8C27-FF0701E8FAD5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81A0CB6C-0D74-4877-B97D-73B7D6B320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7237E626-D311-4B83-8DBA-12DC3F813C32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F61B8E82-D4DC-41E9-B74B-4125D6F227F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39" name="Заголовок 13">
            <a:extLst>
              <a:ext uri="{FF2B5EF4-FFF2-40B4-BE49-F238E27FC236}">
                <a16:creationId xmlns:a16="http://schemas.microsoft.com/office/drawing/2014/main" id="{8E1F3D1B-B48D-3959-B6E3-253BFA6E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24562"/>
            <a:ext cx="3797300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dirty="0">
                <a:solidFill>
                  <a:srgbClr val="FFFFFF"/>
                </a:solidFill>
              </a:rPr>
              <a:t>ОБЪЯСНИМОСТЬ ВЫДАЧИ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0647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4577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4206240" cy="423628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Задание — генератор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4206240" cy="672075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Числа, код, имена и варианты ответа выбираются заново при каждой выдаче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4206240" cy="403756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Сопоставимая сложность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4206240" cy="672075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Она закреплена за шаблоном и уровнем: 28 общих заданий и по 12 профильных на специализацию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4206240" cy="403913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Оценка по IRT (3PL)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4206240" cy="672075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Уровень θ на шкале грейдов; пороги балла — 20 / 35 / 50 / 65 из 100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4206240" cy="423628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Адаптивный, 12–18 заданий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4206240" cy="672075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Задания подбираются у границы заявленного грейда; стоп при уверенности 90%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4206240" cy="403756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Грейд не понижается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4206240" cy="672075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Не прошёл — сразу тест уровнем ниже; уверенный результат даёт попытку на грейд выше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4206240" cy="403913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Сроки против перебора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4206240" cy="672075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Смена категории — раз в 90 дней, пересдача проваленного грейда — через 14 дней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24562"/>
            <a:ext cx="4178300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dirty="0">
                <a:solidFill>
                  <a:srgbClr val="FFFFFF"/>
                </a:solidFill>
              </a:rPr>
              <a:t>МЕХАНИКА ТЕСТИРОВАНИЯ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" y="6172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55556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Параметры сложности назначены экспертно; предусмотрена калибровка по накопленным ответам кандидатов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44577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rgbClr val="FF0053"/>
                </a:solidFill>
              </a:rPr>
              <a:t>200 утёкших тестов · 82%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1C1D22"/>
                </a:solidFill>
              </a:rPr>
              <a:t>Слабый кандидат заучил ответы и узнаёт 57% заданий своего теста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rgbClr val="520977"/>
                </a:solidFill>
              </a:rPr>
              <a:t>После мониторинга · 46%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1C1D22"/>
                </a:solidFill>
              </a:rPr>
              <a:t>Дрейф решаемости снимает с выдачи 7 из 12 профильных заданий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rgbClr val="8A83D1"/>
                </a:solidFill>
              </a:rPr>
              <a:t>10 утёкших тестов · 32%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1C1D22"/>
                </a:solidFill>
              </a:rPr>
              <a:t>Общие задания не заучить: условие и ответ каждый раз другие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rgbClr val="C25A86"/>
                </a:solidFill>
              </a:rPr>
              <a:t>Без утечки · 6%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1C1D22"/>
                </a:solidFill>
              </a:rPr>
              <a:t>Доля прошедших тест среди кандидатов на грейд ниже границы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11" y="324562"/>
            <a:ext cx="4178300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dirty="0">
                <a:solidFill>
                  <a:srgbClr val="FFFFFF"/>
                </a:solidFill>
              </a:rPr>
              <a:t>УСТОЙЧИВОСТЬ К УТЕЧКЕ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530352" y="576072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Для сравнения: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при едином наборе заданий хватает одного утёкшего теста, чтобы пройти наверняка. На честных ответах мониторинг не снял напрасно ни одного из 84 заданий.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38862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2D145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2D1451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6590" y="1868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rgbClr val="FF0053"/>
                </a:solidFill>
              </a:rPr>
              <a:t>75% · совпала с истинным грейдом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590" y="2247825"/>
            <a:ext cx="4790314" cy="642164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Итог после всех попыток: 2000 синтетических кандидатов со скрытым уровнем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76590" y="3136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rgbClr val="520977"/>
                </a:solidFill>
              </a:rPr>
              <a:t>15% · выше истинного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76590" y="3516386"/>
            <a:ext cx="4790314" cy="642164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Только на соседний грейд: ошибок на два грейда и больше — 0%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6590" y="4405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rgbClr val="8A83D1"/>
                </a:solidFill>
              </a:rPr>
              <a:t>10% · ниже или не присвоена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6590" y="4784947"/>
            <a:ext cx="4790314" cy="642164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Тест на грейд ниже доступен сразу, без срока ожидания</a:t>
            </a:r>
            <a:endParaRPr lang="ru-RU" dirty="0">
              <a:solidFill>
                <a:schemeClr val="accent6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C31B756F-C29B-4275-9301-AD86FC9C7BFC}"/>
              </a:ext>
            </a:extLst>
          </p:cNvPr>
          <p:cNvGraphicFramePr/>
          <p:nvPr/>
        </p:nvGraphicFramePr>
        <p:xfrm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24562"/>
            <a:ext cx="3606800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dirty="0">
                <a:solidFill>
                  <a:srgbClr val="FFFFFF"/>
                </a:solidFill>
              </a:rPr>
              <a:t>ТОЧНОСТЬ КАТЕГОРИИ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2182130" y="3050201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22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75%</a:t>
            </a:r>
          </a:p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категория верна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870448"/>
            <a:ext cx="5669280" cy="411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Один тест: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верное решение по грейду — 81%, не у границы грейда — 94% · надёжность балла 0,65 · наугад проходят 0–7%</a:t>
            </a:r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6957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dirty="0">
                <a:solidFill>
                  <a:srgbClr val="520977"/>
                </a:solidFill>
              </a:rPr>
              <a:t>Процедура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164 запроса к банку из 2000 синтетических кандидатов; релевантность — по скрытой истине, а не по резюме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dirty="0">
                <a:solidFill>
                  <a:srgbClr val="520977"/>
                </a:solidFill>
              </a:rPr>
              <a:t>Главный выигрыш — отсев слабых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Кандидатов слабее запроса в топ-10 — 8% против 18% у ранжирования по резюме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dirty="0">
                <a:solidFill>
                  <a:srgbClr val="520977"/>
                </a:solidFill>
              </a:rPr>
              <a:t>Устойчивость к нечестным резюме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 wrap="square" lIns="0" tIns="0" rIns="0" bIns="0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Грейд завышают 65% кандидатов: подходящих в топ-10 — 59%, по резюме — 40%. При честных резюме платформа уступает: 61% против 68%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45" y="317430"/>
            <a:ext cx="3416300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dirty="0">
                <a:solidFill>
                  <a:srgbClr val="FFFFFF"/>
                </a:solidFill>
              </a:rPr>
              <a:t>ВАЛИДАЦИЯ ПОДБОРА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5052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301752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 dirty="0">
                <a:solidFill>
                  <a:srgbClr val="520977"/>
                </a:solidFill>
              </a:rPr>
              <a:t>Вход через ФСП ID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 dirty="0">
                <a:solidFill>
                  <a:srgbClr val="1C1D22"/>
                </a:solidFill>
              </a:rPr>
              <a:t>Authorization Code Flow, как у Keycloak: пароль ФСП платформа не видит. Привязать чужой ID нельзя — только через вход.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301752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 dirty="0">
                <a:solidFill>
                  <a:srgbClr val="520977"/>
                </a:solidFill>
              </a:rPr>
              <a:t>Достижения в оценке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 dirty="0">
                <a:solidFill>
                  <a:srgbClr val="1C1D22"/>
                </a:solidFill>
              </a:rPr>
              <a:t>Победа — 0,4, призовое место — 0,3, участие — 0,08. Они упорядочивают кандидатов внутри категории, но грейд не меняют.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3017520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 dirty="0">
                <a:solidFill>
                  <a:srgbClr val="520977"/>
                </a:solidFill>
              </a:rPr>
              <a:t>Нет истории — не минус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0" dirty="0">
                <a:solidFill>
                  <a:srgbClr val="1C1D22"/>
                </a:solidFill>
              </a:rPr>
              <a:t>ID не привязан или результатов нет: надбавки нет, штрафа нет. Блок ФСП работодателю просто не показывается.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24562"/>
            <a:ext cx="3225800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dirty="0">
                <a:solidFill>
                  <a:srgbClr val="FFFFFF"/>
                </a:solidFill>
              </a:rPr>
              <a:t>ИНТЕГРАЦИЯ С ФСП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72E3068-986E-9BBB-5D18-64091C039ECC}"/>
              </a:ext>
            </a:extLst>
          </p:cNvPr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B8BFB44-8926-1FDF-4E57-C5ADDA0407C0}"/>
              </a:ext>
            </a:extLst>
          </p:cNvPr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7E602FF-7E26-F668-96F3-CBB1BFAE5C17}"/>
              </a:ext>
            </a:extLst>
          </p:cNvPr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B4A97A4-D44E-1F60-1759-1E959FA4D289}"/>
              </a:ext>
            </a:extLst>
          </p:cNvPr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F7C252A-35BF-DB93-9627-7E3B7BBEB1F9}"/>
              </a:ext>
            </a:extLst>
          </p:cNvPr>
          <p:cNvSpPr/>
          <p:nvPr/>
        </p:nvSpPr>
        <p:spPr>
          <a:xfrm>
            <a:off x="346075" y="324562"/>
            <a:ext cx="4267200" cy="620919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" name="Рисунок 1" descr="home-start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3680" b="3680"/>
          <a:stretch>
            <a:fillRect/>
          </a:stretch>
        </p:blipFill>
        <p:spPr>
          <a:xfrm>
            <a:off x="1044995" y="1139854"/>
            <a:ext cx="1726214" cy="3657600"/>
          </a:xfrm>
        </p:spPr>
      </p:pic>
      <p:pic>
        <p:nvPicPr>
          <p:cNvPr id="3" name="Рисунок 2" descr="budget-draft.png"/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t="3680" b="3680"/>
          <a:stretch>
            <a:fillRect/>
          </a:stretch>
        </p:blipFill>
        <p:spPr>
          <a:xfrm>
            <a:off x="3770385" y="1139854"/>
            <a:ext cx="1726214" cy="3657600"/>
          </a:xfrm>
        </p:spPr>
      </p:pic>
      <p:pic>
        <p:nvPicPr>
          <p:cNvPr id="4" name="Рисунок 3" descr="nomoney.png"/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t="3680" b="3680"/>
          <a:stretch>
            <a:fillRect/>
          </a:stretch>
        </p:blipFill>
        <p:spPr>
          <a:xfrm>
            <a:off x="6752863" y="1144729"/>
            <a:ext cx="1726214" cy="3657600"/>
          </a:xfrm>
        </p:spPr>
      </p:pic>
      <p:pic>
        <p:nvPicPr>
          <p:cNvPr id="5" name="Рисунок 4" descr="summary-post.png"/>
          <p:cNvPicPr>
            <a:picLocks noGrp="1" noChangeAspect="1"/>
          </p:cNvPicPr>
          <p:nvPr>
            <p:ph type="pic" sz="quarter" idx="17"/>
          </p:nvPr>
        </p:nvPicPr>
        <p:blipFill>
          <a:blip r:embed="rId7"/>
          <a:srcRect t="3680" b="3680"/>
          <a:stretch>
            <a:fillRect/>
          </a:stretch>
        </p:blipFill>
        <p:spPr>
          <a:xfrm>
            <a:off x="9621936" y="1120110"/>
            <a:ext cx="1726214" cy="3657600"/>
          </a:xfr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A7D045A-A8EF-4758-822A-D4C79AEC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888D882-21EA-4859-AD0B-F83535D57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155" y="5035451"/>
            <a:ext cx="2658088" cy="1271340"/>
          </a:xfrm>
        </p:spPr>
        <p:txBody>
          <a:bodyPr wrap="square" lIns="109728" tIns="9144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Адаптивный тест</a:t>
            </a:r>
            <a:endParaRPr lang="ru-RU" dirty="0">
              <a:solidFill>
                <a:schemeClr val="accent5"/>
              </a:solidFill>
              <a:latin typeface="+mj-lt"/>
            </a:endParaRP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Задания по одному; условие и ответ генерируются заново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512A82-0FB0-43DF-93BA-4AAE010B0E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2624" y="5035451"/>
            <a:ext cx="2706185" cy="1271340"/>
          </a:xfrm>
        </p:spPr>
        <p:txBody>
          <a:bodyPr wrap="square" lIns="109728" tIns="9144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Категория</a:t>
            </a:r>
            <a:endParaRPr lang="ru-RU" dirty="0">
              <a:solidFill>
                <a:schemeClr val="accent5"/>
              </a:solidFill>
              <a:latin typeface="+mj-lt"/>
            </a:endParaRP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Специализация, грейд и балл — по результату теста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FD380F-869A-4817-B010-68C40DCD7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192" y="5035451"/>
            <a:ext cx="2728103" cy="1271340"/>
          </a:xfrm>
        </p:spPr>
        <p:txBody>
          <a:bodyPr wrap="square" lIns="109728" tIns="9144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Подборка</a:t>
            </a:r>
            <a:endParaRPr lang="ru-RU" dirty="0">
              <a:solidFill>
                <a:schemeClr val="accent5"/>
              </a:solidFill>
              <a:latin typeface="+mj-lt"/>
            </a:endParaRP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Потребность, рекомендованные категории и фильтры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78F308C-1886-4E54-A21C-8947C5BAC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5035451"/>
            <a:ext cx="2739248" cy="1271340"/>
          </a:xfrm>
        </p:spPr>
        <p:txBody>
          <a:bodyPr wrap="square" lIns="109728" tIns="9144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Приглашение</a:t>
            </a:r>
            <a:endParaRPr lang="ru-RU">
              <a:solidFill>
                <a:schemeClr val="accent5"/>
              </a:solidFill>
              <a:latin typeface="+mj-lt"/>
            </a:endParaRP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Вилка и условия видны сразу; принять или отклонить</a:t>
            </a:r>
          </a:p>
        </p:txBody>
      </p: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31250022-45D9-F12D-3C47-EF28765F4C31}"/>
              </a:ext>
            </a:extLst>
          </p:cNvPr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>
              <a:extLst>
                <a:ext uri="{FF2B5EF4-FFF2-40B4-BE49-F238E27FC236}">
                  <a16:creationId xmlns:a16="http://schemas.microsoft.com/office/drawing/2014/main" id="{24AEA150-DD4F-B078-FF83-FEE03143696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4">
              <a:extLst>
                <a:ext uri="{FF2B5EF4-FFF2-40B4-BE49-F238E27FC236}">
                  <a16:creationId xmlns:a16="http://schemas.microsoft.com/office/drawing/2014/main" id="{99E94FA1-5BB5-0D58-4BBD-DE5C76358423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5">
              <a:extLst>
                <a:ext uri="{FF2B5EF4-FFF2-40B4-BE49-F238E27FC236}">
                  <a16:creationId xmlns:a16="http://schemas.microsoft.com/office/drawing/2014/main" id="{EC571396-05D0-35C1-5295-C7D257F4D92F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6">
              <a:extLst>
                <a:ext uri="{FF2B5EF4-FFF2-40B4-BE49-F238E27FC236}">
                  <a16:creationId xmlns:a16="http://schemas.microsoft.com/office/drawing/2014/main" id="{9B732ADF-E9DA-13D4-42DD-BC54854010DA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7">
              <a:extLst>
                <a:ext uri="{FF2B5EF4-FFF2-40B4-BE49-F238E27FC236}">
                  <a16:creationId xmlns:a16="http://schemas.microsoft.com/office/drawing/2014/main" id="{0678F81A-528D-A550-D258-6BBE42EEC68D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8">
              <a:extLst>
                <a:ext uri="{FF2B5EF4-FFF2-40B4-BE49-F238E27FC236}">
                  <a16:creationId xmlns:a16="http://schemas.microsoft.com/office/drawing/2014/main" id="{25414295-E7C9-1A32-CA87-C03CF520D7C8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9">
              <a:extLst>
                <a:ext uri="{FF2B5EF4-FFF2-40B4-BE49-F238E27FC236}">
                  <a16:creationId xmlns:a16="http://schemas.microsoft.com/office/drawing/2014/main" id="{E8A820F9-852B-9D6F-4958-7115D82B78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20">
              <a:extLst>
                <a:ext uri="{FF2B5EF4-FFF2-40B4-BE49-F238E27FC236}">
                  <a16:creationId xmlns:a16="http://schemas.microsoft.com/office/drawing/2014/main" id="{A1CF9CF3-386D-EAF7-4826-6711831475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21">
              <a:extLst>
                <a:ext uri="{FF2B5EF4-FFF2-40B4-BE49-F238E27FC236}">
                  <a16:creationId xmlns:a16="http://schemas.microsoft.com/office/drawing/2014/main" id="{96508A4E-34F4-C72C-8A4A-3D35D6C3DB3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22">
              <a:extLst>
                <a:ext uri="{FF2B5EF4-FFF2-40B4-BE49-F238E27FC236}">
                  <a16:creationId xmlns:a16="http://schemas.microsoft.com/office/drawing/2014/main" id="{51EB21C3-71D0-415B-6856-697384359B8F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3" name="Полилиния: фигура 23">
              <a:extLst>
                <a:ext uri="{FF2B5EF4-FFF2-40B4-BE49-F238E27FC236}">
                  <a16:creationId xmlns:a16="http://schemas.microsoft.com/office/drawing/2014/main" id="{0466A1BA-47FF-C618-565D-0CBFDCEEC700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4" name="Полилиния: фигура 24">
              <a:extLst>
                <a:ext uri="{FF2B5EF4-FFF2-40B4-BE49-F238E27FC236}">
                  <a16:creationId xmlns:a16="http://schemas.microsoft.com/office/drawing/2014/main" id="{75E55049-DE9B-98AC-BB13-FCA1570B68F3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25">
              <a:extLst>
                <a:ext uri="{FF2B5EF4-FFF2-40B4-BE49-F238E27FC236}">
                  <a16:creationId xmlns:a16="http://schemas.microsoft.com/office/drawing/2014/main" id="{CF905F48-77CA-03E7-97ED-1F92F9A828BD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26">
              <a:extLst>
                <a:ext uri="{FF2B5EF4-FFF2-40B4-BE49-F238E27FC236}">
                  <a16:creationId xmlns:a16="http://schemas.microsoft.com/office/drawing/2014/main" id="{CEBF0B75-055D-4965-772F-47AD1E433B6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27">
              <a:extLst>
                <a:ext uri="{FF2B5EF4-FFF2-40B4-BE49-F238E27FC236}">
                  <a16:creationId xmlns:a16="http://schemas.microsoft.com/office/drawing/2014/main" id="{F00C9732-1E60-E852-DA70-EE392525EF29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28">
              <a:extLst>
                <a:ext uri="{FF2B5EF4-FFF2-40B4-BE49-F238E27FC236}">
                  <a16:creationId xmlns:a16="http://schemas.microsoft.com/office/drawing/2014/main" id="{5AFC5E81-BD49-8854-AE72-7FFF0DE9D257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29">
              <a:extLst>
                <a:ext uri="{FF2B5EF4-FFF2-40B4-BE49-F238E27FC236}">
                  <a16:creationId xmlns:a16="http://schemas.microsoft.com/office/drawing/2014/main" id="{476EA956-DA6E-38F4-E41E-39CD4275DD9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30">
              <a:extLst>
                <a:ext uri="{FF2B5EF4-FFF2-40B4-BE49-F238E27FC236}">
                  <a16:creationId xmlns:a16="http://schemas.microsoft.com/office/drawing/2014/main" id="{38BA4330-968A-CD08-C32A-1AB62BA4060E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31">
              <a:extLst>
                <a:ext uri="{FF2B5EF4-FFF2-40B4-BE49-F238E27FC236}">
                  <a16:creationId xmlns:a16="http://schemas.microsoft.com/office/drawing/2014/main" id="{139C8CA0-F4D9-106C-2539-EAC9FFE03A98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pic>
          <p:nvPicPr>
            <p:cNvPr id="142" name="Рисунок 141">
              <a:extLst>
                <a:ext uri="{FF2B5EF4-FFF2-40B4-BE49-F238E27FC236}">
                  <a16:creationId xmlns:a16="http://schemas.microsoft.com/office/drawing/2014/main" id="{B710F069-E351-BE87-1018-2661A76A8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>
              <a:extLst>
                <a:ext uri="{FF2B5EF4-FFF2-40B4-BE49-F238E27FC236}">
                  <a16:creationId xmlns:a16="http://schemas.microsoft.com/office/drawing/2014/main" id="{71E4939B-0E00-8909-8012-C8043D8DCAD7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34">
              <a:extLst>
                <a:ext uri="{FF2B5EF4-FFF2-40B4-BE49-F238E27FC236}">
                  <a16:creationId xmlns:a16="http://schemas.microsoft.com/office/drawing/2014/main" id="{5C4DB02A-9E60-644A-BD04-122262EA9C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35">
              <a:extLst>
                <a:ext uri="{FF2B5EF4-FFF2-40B4-BE49-F238E27FC236}">
                  <a16:creationId xmlns:a16="http://schemas.microsoft.com/office/drawing/2014/main" id="{A8C103F3-04F0-28A6-D985-85A41641334F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36">
              <a:extLst>
                <a:ext uri="{FF2B5EF4-FFF2-40B4-BE49-F238E27FC236}">
                  <a16:creationId xmlns:a16="http://schemas.microsoft.com/office/drawing/2014/main" id="{672B7A39-41AC-BB07-5409-21F650DF0E89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6F6876AF-B1D2-D1B1-91CC-C9E4B6B41445}"/>
              </a:ext>
            </a:extLst>
          </p:cNvPr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>
              <a:extLst>
                <a:ext uri="{FF2B5EF4-FFF2-40B4-BE49-F238E27FC236}">
                  <a16:creationId xmlns:a16="http://schemas.microsoft.com/office/drawing/2014/main" id="{E8AC8241-89F5-74DB-F469-C2BA9BE0C024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">
              <a:extLst>
                <a:ext uri="{FF2B5EF4-FFF2-40B4-BE49-F238E27FC236}">
                  <a16:creationId xmlns:a16="http://schemas.microsoft.com/office/drawing/2014/main" id="{84434B8C-47C7-6BE9-D4B7-0B893BCC5BD5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5">
              <a:extLst>
                <a:ext uri="{FF2B5EF4-FFF2-40B4-BE49-F238E27FC236}">
                  <a16:creationId xmlns:a16="http://schemas.microsoft.com/office/drawing/2014/main" id="{5263283D-705A-5613-18ED-E80BDE52AFCA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6">
              <a:extLst>
                <a:ext uri="{FF2B5EF4-FFF2-40B4-BE49-F238E27FC236}">
                  <a16:creationId xmlns:a16="http://schemas.microsoft.com/office/drawing/2014/main" id="{744D4512-D838-3AD8-499E-05E6B87490C1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7">
              <a:extLst>
                <a:ext uri="{FF2B5EF4-FFF2-40B4-BE49-F238E27FC236}">
                  <a16:creationId xmlns:a16="http://schemas.microsoft.com/office/drawing/2014/main" id="{57B1D57F-7138-34E6-ADEF-6E34A735ABB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8">
              <a:extLst>
                <a:ext uri="{FF2B5EF4-FFF2-40B4-BE49-F238E27FC236}">
                  <a16:creationId xmlns:a16="http://schemas.microsoft.com/office/drawing/2014/main" id="{F820A8CD-CB50-CF85-631E-0D2ABB0DA0AE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4" name="Полилиния: фигура 19">
              <a:extLst>
                <a:ext uri="{FF2B5EF4-FFF2-40B4-BE49-F238E27FC236}">
                  <a16:creationId xmlns:a16="http://schemas.microsoft.com/office/drawing/2014/main" id="{E04E2701-FE1E-5CC3-36AF-B4B9D29FD242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5" name="Полилиния: фигура 20">
              <a:extLst>
                <a:ext uri="{FF2B5EF4-FFF2-40B4-BE49-F238E27FC236}">
                  <a16:creationId xmlns:a16="http://schemas.microsoft.com/office/drawing/2014/main" id="{8CD1AA2D-A392-D1E3-DF78-0AEA26501D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21">
              <a:extLst>
                <a:ext uri="{FF2B5EF4-FFF2-40B4-BE49-F238E27FC236}">
                  <a16:creationId xmlns:a16="http://schemas.microsoft.com/office/drawing/2014/main" id="{2C59B60B-FC7B-96E9-43B4-E6248B35E7F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22">
              <a:extLst>
                <a:ext uri="{FF2B5EF4-FFF2-40B4-BE49-F238E27FC236}">
                  <a16:creationId xmlns:a16="http://schemas.microsoft.com/office/drawing/2014/main" id="{C1F8F87E-2226-19FB-7129-485EFF2952F3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23">
              <a:extLst>
                <a:ext uri="{FF2B5EF4-FFF2-40B4-BE49-F238E27FC236}">
                  <a16:creationId xmlns:a16="http://schemas.microsoft.com/office/drawing/2014/main" id="{19CF104F-7F1A-9575-3974-58D1C393CB8C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24">
              <a:extLst>
                <a:ext uri="{FF2B5EF4-FFF2-40B4-BE49-F238E27FC236}">
                  <a16:creationId xmlns:a16="http://schemas.microsoft.com/office/drawing/2014/main" id="{08D91672-4E5C-7BA4-1CE5-A30F3A8D8B90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25">
              <a:extLst>
                <a:ext uri="{FF2B5EF4-FFF2-40B4-BE49-F238E27FC236}">
                  <a16:creationId xmlns:a16="http://schemas.microsoft.com/office/drawing/2014/main" id="{0E644CEA-C8F9-E939-4113-FFB9CC6A10CB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26">
              <a:extLst>
                <a:ext uri="{FF2B5EF4-FFF2-40B4-BE49-F238E27FC236}">
                  <a16:creationId xmlns:a16="http://schemas.microsoft.com/office/drawing/2014/main" id="{A9463AC2-3CBD-AD7F-C2FC-3E6B8898F61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27">
              <a:extLst>
                <a:ext uri="{FF2B5EF4-FFF2-40B4-BE49-F238E27FC236}">
                  <a16:creationId xmlns:a16="http://schemas.microsoft.com/office/drawing/2014/main" id="{A0B742DC-234C-DFDF-1731-F5483C135F77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28">
              <a:extLst>
                <a:ext uri="{FF2B5EF4-FFF2-40B4-BE49-F238E27FC236}">
                  <a16:creationId xmlns:a16="http://schemas.microsoft.com/office/drawing/2014/main" id="{295E8F4E-2D3F-0442-68E4-45516C2C0F7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29">
              <a:extLst>
                <a:ext uri="{FF2B5EF4-FFF2-40B4-BE49-F238E27FC236}">
                  <a16:creationId xmlns:a16="http://schemas.microsoft.com/office/drawing/2014/main" id="{EC3523CB-F469-D234-C98C-68A35D5DC1EE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30">
              <a:extLst>
                <a:ext uri="{FF2B5EF4-FFF2-40B4-BE49-F238E27FC236}">
                  <a16:creationId xmlns:a16="http://schemas.microsoft.com/office/drawing/2014/main" id="{C1E692C9-11C7-FD16-0691-269E9730C0D7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31">
              <a:extLst>
                <a:ext uri="{FF2B5EF4-FFF2-40B4-BE49-F238E27FC236}">
                  <a16:creationId xmlns:a16="http://schemas.microsoft.com/office/drawing/2014/main" id="{8A8BCBC3-F8B9-E268-FA91-BE0B91504CB7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pic>
          <p:nvPicPr>
            <p:cNvPr id="167" name="Рисунок 166">
              <a:extLst>
                <a:ext uri="{FF2B5EF4-FFF2-40B4-BE49-F238E27FC236}">
                  <a16:creationId xmlns:a16="http://schemas.microsoft.com/office/drawing/2014/main" id="{275DD60F-C19A-9738-1499-379E38B89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>
              <a:extLst>
                <a:ext uri="{FF2B5EF4-FFF2-40B4-BE49-F238E27FC236}">
                  <a16:creationId xmlns:a16="http://schemas.microsoft.com/office/drawing/2014/main" id="{0C1A32E6-71CE-D73A-D08C-E614CC7D3E3D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34">
              <a:extLst>
                <a:ext uri="{FF2B5EF4-FFF2-40B4-BE49-F238E27FC236}">
                  <a16:creationId xmlns:a16="http://schemas.microsoft.com/office/drawing/2014/main" id="{F634A189-F19F-9C70-5515-9E924535DC9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35">
              <a:extLst>
                <a:ext uri="{FF2B5EF4-FFF2-40B4-BE49-F238E27FC236}">
                  <a16:creationId xmlns:a16="http://schemas.microsoft.com/office/drawing/2014/main" id="{FEC821A6-0C1B-A5D1-4EE3-7BC96AF6DC8D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36">
              <a:extLst>
                <a:ext uri="{FF2B5EF4-FFF2-40B4-BE49-F238E27FC236}">
                  <a16:creationId xmlns:a16="http://schemas.microsoft.com/office/drawing/2014/main" id="{DCBB9EDB-AF53-F46A-71B2-6496483F87B8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172" name="Группа 171">
            <a:extLst>
              <a:ext uri="{FF2B5EF4-FFF2-40B4-BE49-F238E27FC236}">
                <a16:creationId xmlns:a16="http://schemas.microsoft.com/office/drawing/2014/main" id="{28B88200-E25B-E61C-1E68-2D2C2B01BCE5}"/>
              </a:ext>
            </a:extLst>
          </p:cNvPr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>
              <a:extLst>
                <a:ext uri="{FF2B5EF4-FFF2-40B4-BE49-F238E27FC236}">
                  <a16:creationId xmlns:a16="http://schemas.microsoft.com/office/drawing/2014/main" id="{A9CDA20E-DC0B-7574-8A53-2FE5A69E3137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4">
              <a:extLst>
                <a:ext uri="{FF2B5EF4-FFF2-40B4-BE49-F238E27FC236}">
                  <a16:creationId xmlns:a16="http://schemas.microsoft.com/office/drawing/2014/main" id="{C6EDF764-F67B-E72A-96F7-9AD40839714F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5">
              <a:extLst>
                <a:ext uri="{FF2B5EF4-FFF2-40B4-BE49-F238E27FC236}">
                  <a16:creationId xmlns:a16="http://schemas.microsoft.com/office/drawing/2014/main" id="{3FAA0615-8C83-2C58-58C1-270E46BD11DD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6">
              <a:extLst>
                <a:ext uri="{FF2B5EF4-FFF2-40B4-BE49-F238E27FC236}">
                  <a16:creationId xmlns:a16="http://schemas.microsoft.com/office/drawing/2014/main" id="{6DA7610E-8695-F698-FBE5-F1EA1A34BCA3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">
              <a:extLst>
                <a:ext uri="{FF2B5EF4-FFF2-40B4-BE49-F238E27FC236}">
                  <a16:creationId xmlns:a16="http://schemas.microsoft.com/office/drawing/2014/main" id="{C2B0886E-C1A1-F8FB-DE0A-7E00B1A7012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8" name="Полилиния: фигура 18">
              <a:extLst>
                <a:ext uri="{FF2B5EF4-FFF2-40B4-BE49-F238E27FC236}">
                  <a16:creationId xmlns:a16="http://schemas.microsoft.com/office/drawing/2014/main" id="{F6E82E9D-82A0-F318-F846-F9AA582ADCE6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9" name="Полилиния: фигура 19">
              <a:extLst>
                <a:ext uri="{FF2B5EF4-FFF2-40B4-BE49-F238E27FC236}">
                  <a16:creationId xmlns:a16="http://schemas.microsoft.com/office/drawing/2014/main" id="{6CD40789-5D3D-6EE9-2675-745C2BDC65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0" name="Полилиния: фигура 20">
              <a:extLst>
                <a:ext uri="{FF2B5EF4-FFF2-40B4-BE49-F238E27FC236}">
                  <a16:creationId xmlns:a16="http://schemas.microsoft.com/office/drawing/2014/main" id="{158DFE1D-B6C8-7D8D-1E07-17C4E0EEF55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1" name="Полилиния: фигура 21">
              <a:extLst>
                <a:ext uri="{FF2B5EF4-FFF2-40B4-BE49-F238E27FC236}">
                  <a16:creationId xmlns:a16="http://schemas.microsoft.com/office/drawing/2014/main" id="{D8DEFA81-42B3-5DA3-7630-FDBDF31D670E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2" name="Полилиния: фигура 22">
              <a:extLst>
                <a:ext uri="{FF2B5EF4-FFF2-40B4-BE49-F238E27FC236}">
                  <a16:creationId xmlns:a16="http://schemas.microsoft.com/office/drawing/2014/main" id="{BB1811A3-3629-FDD8-6775-7826417B17BB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3" name="Полилиния: фигура 23">
              <a:extLst>
                <a:ext uri="{FF2B5EF4-FFF2-40B4-BE49-F238E27FC236}">
                  <a16:creationId xmlns:a16="http://schemas.microsoft.com/office/drawing/2014/main" id="{0C885996-2D3E-94A9-F80B-759C2B77BEFD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4" name="Полилиния: фигура 24">
              <a:extLst>
                <a:ext uri="{FF2B5EF4-FFF2-40B4-BE49-F238E27FC236}">
                  <a16:creationId xmlns:a16="http://schemas.microsoft.com/office/drawing/2014/main" id="{7A637849-F366-366B-2B72-613C030A10ED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5" name="Полилиния: фигура 25">
              <a:extLst>
                <a:ext uri="{FF2B5EF4-FFF2-40B4-BE49-F238E27FC236}">
                  <a16:creationId xmlns:a16="http://schemas.microsoft.com/office/drawing/2014/main" id="{110EFEA7-7F4A-95B8-43B8-6F88654392F3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6" name="Полилиния: фигура 26">
              <a:extLst>
                <a:ext uri="{FF2B5EF4-FFF2-40B4-BE49-F238E27FC236}">
                  <a16:creationId xmlns:a16="http://schemas.microsoft.com/office/drawing/2014/main" id="{6775B6E1-3AE7-DCB7-993C-A3BB57DEB079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7" name="Полилиния: фигура 27">
              <a:extLst>
                <a:ext uri="{FF2B5EF4-FFF2-40B4-BE49-F238E27FC236}">
                  <a16:creationId xmlns:a16="http://schemas.microsoft.com/office/drawing/2014/main" id="{A1B076D4-6F0A-6994-8304-90264BE47B6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8" name="Полилиния: фигура 28">
              <a:extLst>
                <a:ext uri="{FF2B5EF4-FFF2-40B4-BE49-F238E27FC236}">
                  <a16:creationId xmlns:a16="http://schemas.microsoft.com/office/drawing/2014/main" id="{03D70E49-6A46-60F0-235C-230EB8697FFF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9" name="Полилиния: фигура 29">
              <a:extLst>
                <a:ext uri="{FF2B5EF4-FFF2-40B4-BE49-F238E27FC236}">
                  <a16:creationId xmlns:a16="http://schemas.microsoft.com/office/drawing/2014/main" id="{638DC947-2E6A-E1E4-48C6-C82F296AF48F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0" name="Полилиния: фигура 30">
              <a:extLst>
                <a:ext uri="{FF2B5EF4-FFF2-40B4-BE49-F238E27FC236}">
                  <a16:creationId xmlns:a16="http://schemas.microsoft.com/office/drawing/2014/main" id="{2133978C-A68D-962F-7B3F-8C121D583304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1" name="Полилиния: фигура 31">
              <a:extLst>
                <a:ext uri="{FF2B5EF4-FFF2-40B4-BE49-F238E27FC236}">
                  <a16:creationId xmlns:a16="http://schemas.microsoft.com/office/drawing/2014/main" id="{E7337AD2-C975-8EEA-309F-C9BEC7D9B80A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pic>
          <p:nvPicPr>
            <p:cNvPr id="192" name="Рисунок 191">
              <a:extLst>
                <a:ext uri="{FF2B5EF4-FFF2-40B4-BE49-F238E27FC236}">
                  <a16:creationId xmlns:a16="http://schemas.microsoft.com/office/drawing/2014/main" id="{EBC94221-5003-CC9C-1BA6-39584F78B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>
              <a:extLst>
                <a:ext uri="{FF2B5EF4-FFF2-40B4-BE49-F238E27FC236}">
                  <a16:creationId xmlns:a16="http://schemas.microsoft.com/office/drawing/2014/main" id="{D717B4FB-A27A-CAA6-3D77-01AD01672953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4" name="Полилиния: фигура 34">
              <a:extLst>
                <a:ext uri="{FF2B5EF4-FFF2-40B4-BE49-F238E27FC236}">
                  <a16:creationId xmlns:a16="http://schemas.microsoft.com/office/drawing/2014/main" id="{34C8B6EF-76B0-66A8-48F8-451128B8EF5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5" name="Полилиния: фигура 35">
              <a:extLst>
                <a:ext uri="{FF2B5EF4-FFF2-40B4-BE49-F238E27FC236}">
                  <a16:creationId xmlns:a16="http://schemas.microsoft.com/office/drawing/2014/main" id="{C4E22E47-5653-9FC4-E418-B13F750799A0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6" name="Полилиния: фигура 36">
              <a:extLst>
                <a:ext uri="{FF2B5EF4-FFF2-40B4-BE49-F238E27FC236}">
                  <a16:creationId xmlns:a16="http://schemas.microsoft.com/office/drawing/2014/main" id="{288CF8AC-8E86-147B-676C-4A0A4618F6E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09B9B184-25F2-7359-333D-5EB9A60B8EFD}"/>
              </a:ext>
            </a:extLst>
          </p:cNvPr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>
              <a:extLst>
                <a:ext uri="{FF2B5EF4-FFF2-40B4-BE49-F238E27FC236}">
                  <a16:creationId xmlns:a16="http://schemas.microsoft.com/office/drawing/2014/main" id="{E3F377FC-00D5-EF59-5B13-016CF3D10D8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9" name="Полилиния: фигура 14">
              <a:extLst>
                <a:ext uri="{FF2B5EF4-FFF2-40B4-BE49-F238E27FC236}">
                  <a16:creationId xmlns:a16="http://schemas.microsoft.com/office/drawing/2014/main" id="{FC792052-29C1-6D35-7F6B-79A599C639D7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0" name="Полилиния: фигура 15">
              <a:extLst>
                <a:ext uri="{FF2B5EF4-FFF2-40B4-BE49-F238E27FC236}">
                  <a16:creationId xmlns:a16="http://schemas.microsoft.com/office/drawing/2014/main" id="{E5A98475-EA25-67D6-4D5F-15BF00331AEB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1" name="Полилиния: фигура 16">
              <a:extLst>
                <a:ext uri="{FF2B5EF4-FFF2-40B4-BE49-F238E27FC236}">
                  <a16:creationId xmlns:a16="http://schemas.microsoft.com/office/drawing/2014/main" id="{81E5799A-EDA9-923F-4306-CDB07B346B8B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2" name="Полилиния: фигура 17">
              <a:extLst>
                <a:ext uri="{FF2B5EF4-FFF2-40B4-BE49-F238E27FC236}">
                  <a16:creationId xmlns:a16="http://schemas.microsoft.com/office/drawing/2014/main" id="{C8C06C37-DF23-F749-53E7-43DD5F9A34DA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3" name="Полилиния: фигура 18">
              <a:extLst>
                <a:ext uri="{FF2B5EF4-FFF2-40B4-BE49-F238E27FC236}">
                  <a16:creationId xmlns:a16="http://schemas.microsoft.com/office/drawing/2014/main" id="{18AB0B4B-8AF4-3CED-546E-8A0EDD0343AA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4" name="Полилиния: фигура 19">
              <a:extLst>
                <a:ext uri="{FF2B5EF4-FFF2-40B4-BE49-F238E27FC236}">
                  <a16:creationId xmlns:a16="http://schemas.microsoft.com/office/drawing/2014/main" id="{A09F4E37-B8CD-2EF9-2BDD-679C42F718DF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5" name="Полилиния: фигура 20">
              <a:extLst>
                <a:ext uri="{FF2B5EF4-FFF2-40B4-BE49-F238E27FC236}">
                  <a16:creationId xmlns:a16="http://schemas.microsoft.com/office/drawing/2014/main" id="{9D8C252F-C832-C60B-67B3-B6D013188DB3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6" name="Полилиния: фигура 21">
              <a:extLst>
                <a:ext uri="{FF2B5EF4-FFF2-40B4-BE49-F238E27FC236}">
                  <a16:creationId xmlns:a16="http://schemas.microsoft.com/office/drawing/2014/main" id="{FA7900B1-7A25-63CF-0588-70A25C00B663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7" name="Полилиния: фигура 22">
              <a:extLst>
                <a:ext uri="{FF2B5EF4-FFF2-40B4-BE49-F238E27FC236}">
                  <a16:creationId xmlns:a16="http://schemas.microsoft.com/office/drawing/2014/main" id="{EFB55E02-77C2-7DAA-FBBD-AAD9F92F0831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8" name="Полилиния: фигура 23">
              <a:extLst>
                <a:ext uri="{FF2B5EF4-FFF2-40B4-BE49-F238E27FC236}">
                  <a16:creationId xmlns:a16="http://schemas.microsoft.com/office/drawing/2014/main" id="{30535304-E628-32AB-C6BA-19E520C656BF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9" name="Полилиния: фигура 24">
              <a:extLst>
                <a:ext uri="{FF2B5EF4-FFF2-40B4-BE49-F238E27FC236}">
                  <a16:creationId xmlns:a16="http://schemas.microsoft.com/office/drawing/2014/main" id="{78104E2D-A620-47E2-40F3-A995004EE446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0" name="Полилиния: фигура 25">
              <a:extLst>
                <a:ext uri="{FF2B5EF4-FFF2-40B4-BE49-F238E27FC236}">
                  <a16:creationId xmlns:a16="http://schemas.microsoft.com/office/drawing/2014/main" id="{8EB92C67-7F68-803C-FB9E-2D13E650E6A1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1" name="Полилиния: фигура 26">
              <a:extLst>
                <a:ext uri="{FF2B5EF4-FFF2-40B4-BE49-F238E27FC236}">
                  <a16:creationId xmlns:a16="http://schemas.microsoft.com/office/drawing/2014/main" id="{3E0B4E90-F08C-B5ED-761E-838F2F9D531E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2" name="Полилиния: фигура 27">
              <a:extLst>
                <a:ext uri="{FF2B5EF4-FFF2-40B4-BE49-F238E27FC236}">
                  <a16:creationId xmlns:a16="http://schemas.microsoft.com/office/drawing/2014/main" id="{B6C8B631-B5E5-473B-FD01-2491F51BF4AA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3" name="Полилиния: фигура 28">
              <a:extLst>
                <a:ext uri="{FF2B5EF4-FFF2-40B4-BE49-F238E27FC236}">
                  <a16:creationId xmlns:a16="http://schemas.microsoft.com/office/drawing/2014/main" id="{380F7E94-40B3-49EA-38A2-A4683915276E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4" name="Полилиния: фигура 29">
              <a:extLst>
                <a:ext uri="{FF2B5EF4-FFF2-40B4-BE49-F238E27FC236}">
                  <a16:creationId xmlns:a16="http://schemas.microsoft.com/office/drawing/2014/main" id="{F9385ADB-6D1B-C79D-F5BB-B03F408AFC6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5" name="Полилиния: фигура 30">
              <a:extLst>
                <a:ext uri="{FF2B5EF4-FFF2-40B4-BE49-F238E27FC236}">
                  <a16:creationId xmlns:a16="http://schemas.microsoft.com/office/drawing/2014/main" id="{00D97A09-43D0-4152-831C-C7744B4FE7E6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6" name="Полилиния: фигура 31">
              <a:extLst>
                <a:ext uri="{FF2B5EF4-FFF2-40B4-BE49-F238E27FC236}">
                  <a16:creationId xmlns:a16="http://schemas.microsoft.com/office/drawing/2014/main" id="{83CFD5B5-DF45-F681-5596-E631C837531E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pic>
          <p:nvPicPr>
            <p:cNvPr id="217" name="Рисунок 216">
              <a:extLst>
                <a:ext uri="{FF2B5EF4-FFF2-40B4-BE49-F238E27FC236}">
                  <a16:creationId xmlns:a16="http://schemas.microsoft.com/office/drawing/2014/main" id="{5AED15A4-4D29-1A14-4213-148543BBC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>
              <a:extLst>
                <a:ext uri="{FF2B5EF4-FFF2-40B4-BE49-F238E27FC236}">
                  <a16:creationId xmlns:a16="http://schemas.microsoft.com/office/drawing/2014/main" id="{D613CEB1-BB3C-206D-6D01-E1CB7887B429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9" name="Полилиния: фигура 34">
              <a:extLst>
                <a:ext uri="{FF2B5EF4-FFF2-40B4-BE49-F238E27FC236}">
                  <a16:creationId xmlns:a16="http://schemas.microsoft.com/office/drawing/2014/main" id="{69F35FD4-E9E3-2671-1E63-C0ECA01A6C97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0" name="Полилиния: фигура 35">
              <a:extLst>
                <a:ext uri="{FF2B5EF4-FFF2-40B4-BE49-F238E27FC236}">
                  <a16:creationId xmlns:a16="http://schemas.microsoft.com/office/drawing/2014/main" id="{6DDAF0B9-15C9-D0FE-7E34-9051A84DDBB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1" name="Полилиния: фигура 36">
              <a:extLst>
                <a:ext uri="{FF2B5EF4-FFF2-40B4-BE49-F238E27FC236}">
                  <a16:creationId xmlns:a16="http://schemas.microsoft.com/office/drawing/2014/main" id="{BB968C32-6E31-7C3C-54D5-B0EED92672B1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B78984E-BF6A-592D-77E7-74F307B3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24562"/>
            <a:ext cx="3987800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dirty="0">
                <a:solidFill>
                  <a:srgbClr val="FFFFFF"/>
                </a:solidFill>
              </a:rPr>
              <a:t>ПЛАТФОРМА В ДЕЙСТВИИ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3772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72E3068-986E-9BBB-5D18-64091C039ECC}"/>
              </a:ext>
            </a:extLst>
          </p:cNvPr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B8BFB44-8926-1FDF-4E57-C5ADDA0407C0}"/>
              </a:ext>
            </a:extLst>
          </p:cNvPr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7E602FF-7E26-F668-96F3-CBB1BFAE5C17}"/>
              </a:ext>
            </a:extLst>
          </p:cNvPr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B4A97A4-D44E-1F60-1759-1E959FA4D289}"/>
              </a:ext>
            </a:extLst>
          </p:cNvPr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F7C252A-35BF-DB93-9627-7E3B7BBEB1F9}"/>
              </a:ext>
            </a:extLst>
          </p:cNvPr>
          <p:cNvSpPr/>
          <p:nvPr/>
        </p:nvSpPr>
        <p:spPr>
          <a:xfrm>
            <a:off x="346075" y="324562"/>
            <a:ext cx="5842000" cy="620919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" name="Рисунок 1" descr="create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3680" b="3680"/>
          <a:stretch>
            <a:fillRect/>
          </a:stretch>
        </p:blipFill>
        <p:spPr>
          <a:xfrm>
            <a:off x="1044995" y="1139854"/>
            <a:ext cx="1726214" cy="3657600"/>
          </a:xfrm>
        </p:spPr>
      </p:pic>
      <p:pic>
        <p:nvPicPr>
          <p:cNvPr id="3" name="Рисунок 2" descr="quest-basket-result.png"/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t="3680" b="3680"/>
          <a:stretch>
            <a:fillRect/>
          </a:stretch>
        </p:blipFill>
        <p:spPr>
          <a:xfrm>
            <a:off x="3770385" y="1139854"/>
            <a:ext cx="1726214" cy="3657600"/>
          </a:xfrm>
        </p:spPr>
      </p:pic>
      <p:pic>
        <p:nvPicPr>
          <p:cNvPr id="4" name="Рисунок 3" descr="savings.png"/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t="3680" b="3680"/>
          <a:stretch>
            <a:fillRect/>
          </a:stretch>
        </p:blipFill>
        <p:spPr>
          <a:xfrm>
            <a:off x="6752863" y="1144729"/>
            <a:ext cx="1726214" cy="3657600"/>
          </a:xfrm>
        </p:spPr>
      </p:pic>
      <p:pic>
        <p:nvPicPr>
          <p:cNvPr id="5" name="Рисунок 4" descr="parent.png"/>
          <p:cNvPicPr>
            <a:picLocks noGrp="1" noChangeAspect="1"/>
          </p:cNvPicPr>
          <p:nvPr>
            <p:ph type="pic" sz="quarter" idx="17"/>
          </p:nvPr>
        </p:nvPicPr>
        <p:blipFill>
          <a:blip r:embed="rId7"/>
          <a:srcRect t="3680" b="3680"/>
          <a:stretch>
            <a:fillRect/>
          </a:stretch>
        </p:blipFill>
        <p:spPr>
          <a:xfrm>
            <a:off x="9621936" y="1120110"/>
            <a:ext cx="1726214" cy="3657600"/>
          </a:xfr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A7D045A-A8EF-4758-822A-D4C79AEC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888D882-21EA-4859-AD0B-F83535D57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155" y="5035451"/>
            <a:ext cx="2658088" cy="1271340"/>
          </a:xfrm>
        </p:spPr>
        <p:txBody>
          <a:bodyPr wrap="square" lIns="109728" tIns="9144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Вход через ФСП ID</a:t>
            </a:r>
            <a:endParaRPr lang="ru-RU" dirty="0">
              <a:solidFill>
                <a:schemeClr val="accent5"/>
              </a:solidFill>
              <a:latin typeface="+mj-lt"/>
            </a:endParaRP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Демонстрационный провайдер по схеме OpenID Connect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512A82-0FB0-43DF-93BA-4AAE010B0E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2624" y="5035451"/>
            <a:ext cx="2706185" cy="1271340"/>
          </a:xfrm>
        </p:spPr>
        <p:txBody>
          <a:bodyPr wrap="square" lIns="109728" tIns="9144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Вакансии и отклик</a:t>
            </a:r>
            <a:endParaRPr lang="ru-RU" dirty="0">
              <a:solidFill>
                <a:schemeClr val="accent5"/>
              </a:solidFill>
              <a:latin typeface="+mj-lt"/>
            </a:endParaRP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Кандидат с категорией может проявить инициативу сам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FD380F-869A-4817-B010-68C40DCD7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192" y="5035451"/>
            <a:ext cx="2728103" cy="1271340"/>
          </a:xfrm>
        </p:spPr>
        <p:txBody>
          <a:bodyPr wrap="square" lIns="109728" tIns="9144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Регулярные задания</a:t>
            </a:r>
            <a:endParaRPr lang="ru-RU" dirty="0">
              <a:solidFill>
                <a:schemeClr val="accent5"/>
              </a:solidFill>
              <a:latin typeface="+mj-lt"/>
            </a:endParaRP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Ответ обновляет актуальность профиля в подборе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78F308C-1886-4E54-A21C-8947C5BAC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5035451"/>
            <a:ext cx="2739248" cy="1271340"/>
          </a:xfrm>
        </p:spPr>
        <p:txBody>
          <a:bodyPr wrap="square" lIns="109728" tIns="9144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dirty="0">
                <a:solidFill>
                  <a:srgbClr val="520977"/>
                </a:solidFill>
              </a:rPr>
              <a:t>Приватность</a:t>
            </a:r>
            <a:endParaRPr lang="ru-RU">
              <a:solidFill>
                <a:schemeClr val="accent5"/>
              </a:solidFill>
              <a:latin typeface="+mj-lt"/>
            </a:endParaRPr>
          </a:p>
          <a:p>
            <a:pPr marL="0" indent="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0" dirty="0">
                <a:solidFill>
                  <a:srgbClr val="1C1D22"/>
                </a:solidFill>
              </a:rPr>
              <a:t>Что видит работодатель; отзыв согласия удаляет данные</a:t>
            </a:r>
          </a:p>
        </p:txBody>
      </p: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31250022-45D9-F12D-3C47-EF28765F4C31}"/>
              </a:ext>
            </a:extLst>
          </p:cNvPr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>
              <a:extLst>
                <a:ext uri="{FF2B5EF4-FFF2-40B4-BE49-F238E27FC236}">
                  <a16:creationId xmlns:a16="http://schemas.microsoft.com/office/drawing/2014/main" id="{24AEA150-DD4F-B078-FF83-FEE03143696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4">
              <a:extLst>
                <a:ext uri="{FF2B5EF4-FFF2-40B4-BE49-F238E27FC236}">
                  <a16:creationId xmlns:a16="http://schemas.microsoft.com/office/drawing/2014/main" id="{99E94FA1-5BB5-0D58-4BBD-DE5C76358423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5">
              <a:extLst>
                <a:ext uri="{FF2B5EF4-FFF2-40B4-BE49-F238E27FC236}">
                  <a16:creationId xmlns:a16="http://schemas.microsoft.com/office/drawing/2014/main" id="{EC571396-05D0-35C1-5295-C7D257F4D92F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6">
              <a:extLst>
                <a:ext uri="{FF2B5EF4-FFF2-40B4-BE49-F238E27FC236}">
                  <a16:creationId xmlns:a16="http://schemas.microsoft.com/office/drawing/2014/main" id="{9B732ADF-E9DA-13D4-42DD-BC54854010DA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7">
              <a:extLst>
                <a:ext uri="{FF2B5EF4-FFF2-40B4-BE49-F238E27FC236}">
                  <a16:creationId xmlns:a16="http://schemas.microsoft.com/office/drawing/2014/main" id="{0678F81A-528D-A550-D258-6BBE42EEC68D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8">
              <a:extLst>
                <a:ext uri="{FF2B5EF4-FFF2-40B4-BE49-F238E27FC236}">
                  <a16:creationId xmlns:a16="http://schemas.microsoft.com/office/drawing/2014/main" id="{25414295-E7C9-1A32-CA87-C03CF520D7C8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9">
              <a:extLst>
                <a:ext uri="{FF2B5EF4-FFF2-40B4-BE49-F238E27FC236}">
                  <a16:creationId xmlns:a16="http://schemas.microsoft.com/office/drawing/2014/main" id="{E8A820F9-852B-9D6F-4958-7115D82B78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20">
              <a:extLst>
                <a:ext uri="{FF2B5EF4-FFF2-40B4-BE49-F238E27FC236}">
                  <a16:creationId xmlns:a16="http://schemas.microsoft.com/office/drawing/2014/main" id="{A1CF9CF3-386D-EAF7-4826-6711831475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21">
              <a:extLst>
                <a:ext uri="{FF2B5EF4-FFF2-40B4-BE49-F238E27FC236}">
                  <a16:creationId xmlns:a16="http://schemas.microsoft.com/office/drawing/2014/main" id="{96508A4E-34F4-C72C-8A4A-3D35D6C3DB3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22">
              <a:extLst>
                <a:ext uri="{FF2B5EF4-FFF2-40B4-BE49-F238E27FC236}">
                  <a16:creationId xmlns:a16="http://schemas.microsoft.com/office/drawing/2014/main" id="{51EB21C3-71D0-415B-6856-697384359B8F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3" name="Полилиния: фигура 23">
              <a:extLst>
                <a:ext uri="{FF2B5EF4-FFF2-40B4-BE49-F238E27FC236}">
                  <a16:creationId xmlns:a16="http://schemas.microsoft.com/office/drawing/2014/main" id="{0466A1BA-47FF-C618-565D-0CBFDCEEC700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4" name="Полилиния: фигура 24">
              <a:extLst>
                <a:ext uri="{FF2B5EF4-FFF2-40B4-BE49-F238E27FC236}">
                  <a16:creationId xmlns:a16="http://schemas.microsoft.com/office/drawing/2014/main" id="{75E55049-DE9B-98AC-BB13-FCA1570B68F3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25">
              <a:extLst>
                <a:ext uri="{FF2B5EF4-FFF2-40B4-BE49-F238E27FC236}">
                  <a16:creationId xmlns:a16="http://schemas.microsoft.com/office/drawing/2014/main" id="{CF905F48-77CA-03E7-97ED-1F92F9A828BD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26">
              <a:extLst>
                <a:ext uri="{FF2B5EF4-FFF2-40B4-BE49-F238E27FC236}">
                  <a16:creationId xmlns:a16="http://schemas.microsoft.com/office/drawing/2014/main" id="{CEBF0B75-055D-4965-772F-47AD1E433B6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27">
              <a:extLst>
                <a:ext uri="{FF2B5EF4-FFF2-40B4-BE49-F238E27FC236}">
                  <a16:creationId xmlns:a16="http://schemas.microsoft.com/office/drawing/2014/main" id="{F00C9732-1E60-E852-DA70-EE392525EF29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28">
              <a:extLst>
                <a:ext uri="{FF2B5EF4-FFF2-40B4-BE49-F238E27FC236}">
                  <a16:creationId xmlns:a16="http://schemas.microsoft.com/office/drawing/2014/main" id="{5AFC5E81-BD49-8854-AE72-7FFF0DE9D257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29">
              <a:extLst>
                <a:ext uri="{FF2B5EF4-FFF2-40B4-BE49-F238E27FC236}">
                  <a16:creationId xmlns:a16="http://schemas.microsoft.com/office/drawing/2014/main" id="{476EA956-DA6E-38F4-E41E-39CD4275DD9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30">
              <a:extLst>
                <a:ext uri="{FF2B5EF4-FFF2-40B4-BE49-F238E27FC236}">
                  <a16:creationId xmlns:a16="http://schemas.microsoft.com/office/drawing/2014/main" id="{38BA4330-968A-CD08-C32A-1AB62BA4060E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31">
              <a:extLst>
                <a:ext uri="{FF2B5EF4-FFF2-40B4-BE49-F238E27FC236}">
                  <a16:creationId xmlns:a16="http://schemas.microsoft.com/office/drawing/2014/main" id="{139C8CA0-F4D9-106C-2539-EAC9FFE03A98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pic>
          <p:nvPicPr>
            <p:cNvPr id="142" name="Рисунок 141">
              <a:extLst>
                <a:ext uri="{FF2B5EF4-FFF2-40B4-BE49-F238E27FC236}">
                  <a16:creationId xmlns:a16="http://schemas.microsoft.com/office/drawing/2014/main" id="{B710F069-E351-BE87-1018-2661A76A8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>
              <a:extLst>
                <a:ext uri="{FF2B5EF4-FFF2-40B4-BE49-F238E27FC236}">
                  <a16:creationId xmlns:a16="http://schemas.microsoft.com/office/drawing/2014/main" id="{71E4939B-0E00-8909-8012-C8043D8DCAD7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34">
              <a:extLst>
                <a:ext uri="{FF2B5EF4-FFF2-40B4-BE49-F238E27FC236}">
                  <a16:creationId xmlns:a16="http://schemas.microsoft.com/office/drawing/2014/main" id="{5C4DB02A-9E60-644A-BD04-122262EA9C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35">
              <a:extLst>
                <a:ext uri="{FF2B5EF4-FFF2-40B4-BE49-F238E27FC236}">
                  <a16:creationId xmlns:a16="http://schemas.microsoft.com/office/drawing/2014/main" id="{A8C103F3-04F0-28A6-D985-85A41641334F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36">
              <a:extLst>
                <a:ext uri="{FF2B5EF4-FFF2-40B4-BE49-F238E27FC236}">
                  <a16:creationId xmlns:a16="http://schemas.microsoft.com/office/drawing/2014/main" id="{672B7A39-41AC-BB07-5409-21F650DF0E89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6F6876AF-B1D2-D1B1-91CC-C9E4B6B41445}"/>
              </a:ext>
            </a:extLst>
          </p:cNvPr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>
              <a:extLst>
                <a:ext uri="{FF2B5EF4-FFF2-40B4-BE49-F238E27FC236}">
                  <a16:creationId xmlns:a16="http://schemas.microsoft.com/office/drawing/2014/main" id="{E8AC8241-89F5-74DB-F469-C2BA9BE0C024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">
              <a:extLst>
                <a:ext uri="{FF2B5EF4-FFF2-40B4-BE49-F238E27FC236}">
                  <a16:creationId xmlns:a16="http://schemas.microsoft.com/office/drawing/2014/main" id="{84434B8C-47C7-6BE9-D4B7-0B893BCC5BD5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5">
              <a:extLst>
                <a:ext uri="{FF2B5EF4-FFF2-40B4-BE49-F238E27FC236}">
                  <a16:creationId xmlns:a16="http://schemas.microsoft.com/office/drawing/2014/main" id="{5263283D-705A-5613-18ED-E80BDE52AFCA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6">
              <a:extLst>
                <a:ext uri="{FF2B5EF4-FFF2-40B4-BE49-F238E27FC236}">
                  <a16:creationId xmlns:a16="http://schemas.microsoft.com/office/drawing/2014/main" id="{744D4512-D838-3AD8-499E-05E6B87490C1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7">
              <a:extLst>
                <a:ext uri="{FF2B5EF4-FFF2-40B4-BE49-F238E27FC236}">
                  <a16:creationId xmlns:a16="http://schemas.microsoft.com/office/drawing/2014/main" id="{57B1D57F-7138-34E6-ADEF-6E34A735ABB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8">
              <a:extLst>
                <a:ext uri="{FF2B5EF4-FFF2-40B4-BE49-F238E27FC236}">
                  <a16:creationId xmlns:a16="http://schemas.microsoft.com/office/drawing/2014/main" id="{F820A8CD-CB50-CF85-631E-0D2ABB0DA0AE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4" name="Полилиния: фигура 19">
              <a:extLst>
                <a:ext uri="{FF2B5EF4-FFF2-40B4-BE49-F238E27FC236}">
                  <a16:creationId xmlns:a16="http://schemas.microsoft.com/office/drawing/2014/main" id="{E04E2701-FE1E-5CC3-36AF-B4B9D29FD242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5" name="Полилиния: фигура 20">
              <a:extLst>
                <a:ext uri="{FF2B5EF4-FFF2-40B4-BE49-F238E27FC236}">
                  <a16:creationId xmlns:a16="http://schemas.microsoft.com/office/drawing/2014/main" id="{8CD1AA2D-A392-D1E3-DF78-0AEA26501D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21">
              <a:extLst>
                <a:ext uri="{FF2B5EF4-FFF2-40B4-BE49-F238E27FC236}">
                  <a16:creationId xmlns:a16="http://schemas.microsoft.com/office/drawing/2014/main" id="{2C59B60B-FC7B-96E9-43B4-E6248B35E7F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22">
              <a:extLst>
                <a:ext uri="{FF2B5EF4-FFF2-40B4-BE49-F238E27FC236}">
                  <a16:creationId xmlns:a16="http://schemas.microsoft.com/office/drawing/2014/main" id="{C1F8F87E-2226-19FB-7129-485EFF2952F3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23">
              <a:extLst>
                <a:ext uri="{FF2B5EF4-FFF2-40B4-BE49-F238E27FC236}">
                  <a16:creationId xmlns:a16="http://schemas.microsoft.com/office/drawing/2014/main" id="{19CF104F-7F1A-9575-3974-58D1C393CB8C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24">
              <a:extLst>
                <a:ext uri="{FF2B5EF4-FFF2-40B4-BE49-F238E27FC236}">
                  <a16:creationId xmlns:a16="http://schemas.microsoft.com/office/drawing/2014/main" id="{08D91672-4E5C-7BA4-1CE5-A30F3A8D8B90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25">
              <a:extLst>
                <a:ext uri="{FF2B5EF4-FFF2-40B4-BE49-F238E27FC236}">
                  <a16:creationId xmlns:a16="http://schemas.microsoft.com/office/drawing/2014/main" id="{0E644CEA-C8F9-E939-4113-FFB9CC6A10CB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26">
              <a:extLst>
                <a:ext uri="{FF2B5EF4-FFF2-40B4-BE49-F238E27FC236}">
                  <a16:creationId xmlns:a16="http://schemas.microsoft.com/office/drawing/2014/main" id="{A9463AC2-3CBD-AD7F-C2FC-3E6B8898F61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27">
              <a:extLst>
                <a:ext uri="{FF2B5EF4-FFF2-40B4-BE49-F238E27FC236}">
                  <a16:creationId xmlns:a16="http://schemas.microsoft.com/office/drawing/2014/main" id="{A0B742DC-234C-DFDF-1731-F5483C135F77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28">
              <a:extLst>
                <a:ext uri="{FF2B5EF4-FFF2-40B4-BE49-F238E27FC236}">
                  <a16:creationId xmlns:a16="http://schemas.microsoft.com/office/drawing/2014/main" id="{295E8F4E-2D3F-0442-68E4-45516C2C0F7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29">
              <a:extLst>
                <a:ext uri="{FF2B5EF4-FFF2-40B4-BE49-F238E27FC236}">
                  <a16:creationId xmlns:a16="http://schemas.microsoft.com/office/drawing/2014/main" id="{EC3523CB-F469-D234-C98C-68A35D5DC1EE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30">
              <a:extLst>
                <a:ext uri="{FF2B5EF4-FFF2-40B4-BE49-F238E27FC236}">
                  <a16:creationId xmlns:a16="http://schemas.microsoft.com/office/drawing/2014/main" id="{C1E692C9-11C7-FD16-0691-269E9730C0D7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31">
              <a:extLst>
                <a:ext uri="{FF2B5EF4-FFF2-40B4-BE49-F238E27FC236}">
                  <a16:creationId xmlns:a16="http://schemas.microsoft.com/office/drawing/2014/main" id="{8A8BCBC3-F8B9-E268-FA91-BE0B91504CB7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pic>
          <p:nvPicPr>
            <p:cNvPr id="167" name="Рисунок 166">
              <a:extLst>
                <a:ext uri="{FF2B5EF4-FFF2-40B4-BE49-F238E27FC236}">
                  <a16:creationId xmlns:a16="http://schemas.microsoft.com/office/drawing/2014/main" id="{275DD60F-C19A-9738-1499-379E38B89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>
              <a:extLst>
                <a:ext uri="{FF2B5EF4-FFF2-40B4-BE49-F238E27FC236}">
                  <a16:creationId xmlns:a16="http://schemas.microsoft.com/office/drawing/2014/main" id="{0C1A32E6-71CE-D73A-D08C-E614CC7D3E3D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34">
              <a:extLst>
                <a:ext uri="{FF2B5EF4-FFF2-40B4-BE49-F238E27FC236}">
                  <a16:creationId xmlns:a16="http://schemas.microsoft.com/office/drawing/2014/main" id="{F634A189-F19F-9C70-5515-9E924535DC9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35">
              <a:extLst>
                <a:ext uri="{FF2B5EF4-FFF2-40B4-BE49-F238E27FC236}">
                  <a16:creationId xmlns:a16="http://schemas.microsoft.com/office/drawing/2014/main" id="{FEC821A6-0C1B-A5D1-4EE3-7BC96AF6DC8D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36">
              <a:extLst>
                <a:ext uri="{FF2B5EF4-FFF2-40B4-BE49-F238E27FC236}">
                  <a16:creationId xmlns:a16="http://schemas.microsoft.com/office/drawing/2014/main" id="{DCBB9EDB-AF53-F46A-71B2-6496483F87B8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172" name="Группа 171">
            <a:extLst>
              <a:ext uri="{FF2B5EF4-FFF2-40B4-BE49-F238E27FC236}">
                <a16:creationId xmlns:a16="http://schemas.microsoft.com/office/drawing/2014/main" id="{28B88200-E25B-E61C-1E68-2D2C2B01BCE5}"/>
              </a:ext>
            </a:extLst>
          </p:cNvPr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>
              <a:extLst>
                <a:ext uri="{FF2B5EF4-FFF2-40B4-BE49-F238E27FC236}">
                  <a16:creationId xmlns:a16="http://schemas.microsoft.com/office/drawing/2014/main" id="{A9CDA20E-DC0B-7574-8A53-2FE5A69E3137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4">
              <a:extLst>
                <a:ext uri="{FF2B5EF4-FFF2-40B4-BE49-F238E27FC236}">
                  <a16:creationId xmlns:a16="http://schemas.microsoft.com/office/drawing/2014/main" id="{C6EDF764-F67B-E72A-96F7-9AD40839714F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5">
              <a:extLst>
                <a:ext uri="{FF2B5EF4-FFF2-40B4-BE49-F238E27FC236}">
                  <a16:creationId xmlns:a16="http://schemas.microsoft.com/office/drawing/2014/main" id="{3FAA0615-8C83-2C58-58C1-270E46BD11DD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6">
              <a:extLst>
                <a:ext uri="{FF2B5EF4-FFF2-40B4-BE49-F238E27FC236}">
                  <a16:creationId xmlns:a16="http://schemas.microsoft.com/office/drawing/2014/main" id="{6DA7610E-8695-F698-FBE5-F1EA1A34BCA3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">
              <a:extLst>
                <a:ext uri="{FF2B5EF4-FFF2-40B4-BE49-F238E27FC236}">
                  <a16:creationId xmlns:a16="http://schemas.microsoft.com/office/drawing/2014/main" id="{C2B0886E-C1A1-F8FB-DE0A-7E00B1A7012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8" name="Полилиния: фигура 18">
              <a:extLst>
                <a:ext uri="{FF2B5EF4-FFF2-40B4-BE49-F238E27FC236}">
                  <a16:creationId xmlns:a16="http://schemas.microsoft.com/office/drawing/2014/main" id="{F6E82E9D-82A0-F318-F846-F9AA582ADCE6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9" name="Полилиния: фигура 19">
              <a:extLst>
                <a:ext uri="{FF2B5EF4-FFF2-40B4-BE49-F238E27FC236}">
                  <a16:creationId xmlns:a16="http://schemas.microsoft.com/office/drawing/2014/main" id="{6CD40789-5D3D-6EE9-2675-745C2BDC65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0" name="Полилиния: фигура 20">
              <a:extLst>
                <a:ext uri="{FF2B5EF4-FFF2-40B4-BE49-F238E27FC236}">
                  <a16:creationId xmlns:a16="http://schemas.microsoft.com/office/drawing/2014/main" id="{158DFE1D-B6C8-7D8D-1E07-17C4E0EEF55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1" name="Полилиния: фигура 21">
              <a:extLst>
                <a:ext uri="{FF2B5EF4-FFF2-40B4-BE49-F238E27FC236}">
                  <a16:creationId xmlns:a16="http://schemas.microsoft.com/office/drawing/2014/main" id="{D8DEFA81-42B3-5DA3-7630-FDBDF31D670E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2" name="Полилиния: фигура 22">
              <a:extLst>
                <a:ext uri="{FF2B5EF4-FFF2-40B4-BE49-F238E27FC236}">
                  <a16:creationId xmlns:a16="http://schemas.microsoft.com/office/drawing/2014/main" id="{BB1811A3-3629-FDD8-6775-7826417B17BB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3" name="Полилиния: фигура 23">
              <a:extLst>
                <a:ext uri="{FF2B5EF4-FFF2-40B4-BE49-F238E27FC236}">
                  <a16:creationId xmlns:a16="http://schemas.microsoft.com/office/drawing/2014/main" id="{0C885996-2D3E-94A9-F80B-759C2B77BEFD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4" name="Полилиния: фигура 24">
              <a:extLst>
                <a:ext uri="{FF2B5EF4-FFF2-40B4-BE49-F238E27FC236}">
                  <a16:creationId xmlns:a16="http://schemas.microsoft.com/office/drawing/2014/main" id="{7A637849-F366-366B-2B72-613C030A10ED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5" name="Полилиния: фигура 25">
              <a:extLst>
                <a:ext uri="{FF2B5EF4-FFF2-40B4-BE49-F238E27FC236}">
                  <a16:creationId xmlns:a16="http://schemas.microsoft.com/office/drawing/2014/main" id="{110EFEA7-7F4A-95B8-43B8-6F88654392F3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6" name="Полилиния: фигура 26">
              <a:extLst>
                <a:ext uri="{FF2B5EF4-FFF2-40B4-BE49-F238E27FC236}">
                  <a16:creationId xmlns:a16="http://schemas.microsoft.com/office/drawing/2014/main" id="{6775B6E1-3AE7-DCB7-993C-A3BB57DEB079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7" name="Полилиния: фигура 27">
              <a:extLst>
                <a:ext uri="{FF2B5EF4-FFF2-40B4-BE49-F238E27FC236}">
                  <a16:creationId xmlns:a16="http://schemas.microsoft.com/office/drawing/2014/main" id="{A1B076D4-6F0A-6994-8304-90264BE47B6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8" name="Полилиния: фигура 28">
              <a:extLst>
                <a:ext uri="{FF2B5EF4-FFF2-40B4-BE49-F238E27FC236}">
                  <a16:creationId xmlns:a16="http://schemas.microsoft.com/office/drawing/2014/main" id="{03D70E49-6A46-60F0-235C-230EB8697FFF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9" name="Полилиния: фигура 29">
              <a:extLst>
                <a:ext uri="{FF2B5EF4-FFF2-40B4-BE49-F238E27FC236}">
                  <a16:creationId xmlns:a16="http://schemas.microsoft.com/office/drawing/2014/main" id="{638DC947-2E6A-E1E4-48C6-C82F296AF48F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0" name="Полилиния: фигура 30">
              <a:extLst>
                <a:ext uri="{FF2B5EF4-FFF2-40B4-BE49-F238E27FC236}">
                  <a16:creationId xmlns:a16="http://schemas.microsoft.com/office/drawing/2014/main" id="{2133978C-A68D-962F-7B3F-8C121D583304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1" name="Полилиния: фигура 31">
              <a:extLst>
                <a:ext uri="{FF2B5EF4-FFF2-40B4-BE49-F238E27FC236}">
                  <a16:creationId xmlns:a16="http://schemas.microsoft.com/office/drawing/2014/main" id="{E7337AD2-C975-8EEA-309F-C9BEC7D9B80A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pic>
          <p:nvPicPr>
            <p:cNvPr id="192" name="Рисунок 191">
              <a:extLst>
                <a:ext uri="{FF2B5EF4-FFF2-40B4-BE49-F238E27FC236}">
                  <a16:creationId xmlns:a16="http://schemas.microsoft.com/office/drawing/2014/main" id="{EBC94221-5003-CC9C-1BA6-39584F78B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>
              <a:extLst>
                <a:ext uri="{FF2B5EF4-FFF2-40B4-BE49-F238E27FC236}">
                  <a16:creationId xmlns:a16="http://schemas.microsoft.com/office/drawing/2014/main" id="{D717B4FB-A27A-CAA6-3D77-01AD01672953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4" name="Полилиния: фигура 34">
              <a:extLst>
                <a:ext uri="{FF2B5EF4-FFF2-40B4-BE49-F238E27FC236}">
                  <a16:creationId xmlns:a16="http://schemas.microsoft.com/office/drawing/2014/main" id="{34C8B6EF-76B0-66A8-48F8-451128B8EF5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5" name="Полилиния: фигура 35">
              <a:extLst>
                <a:ext uri="{FF2B5EF4-FFF2-40B4-BE49-F238E27FC236}">
                  <a16:creationId xmlns:a16="http://schemas.microsoft.com/office/drawing/2014/main" id="{C4E22E47-5653-9FC4-E418-B13F750799A0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6" name="Полилиния: фигура 36">
              <a:extLst>
                <a:ext uri="{FF2B5EF4-FFF2-40B4-BE49-F238E27FC236}">
                  <a16:creationId xmlns:a16="http://schemas.microsoft.com/office/drawing/2014/main" id="{288CF8AC-8E86-147B-676C-4A0A4618F6E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09B9B184-25F2-7359-333D-5EB9A60B8EFD}"/>
              </a:ext>
            </a:extLst>
          </p:cNvPr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>
              <a:extLst>
                <a:ext uri="{FF2B5EF4-FFF2-40B4-BE49-F238E27FC236}">
                  <a16:creationId xmlns:a16="http://schemas.microsoft.com/office/drawing/2014/main" id="{E3F377FC-00D5-EF59-5B13-016CF3D10D8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9" name="Полилиния: фигура 14">
              <a:extLst>
                <a:ext uri="{FF2B5EF4-FFF2-40B4-BE49-F238E27FC236}">
                  <a16:creationId xmlns:a16="http://schemas.microsoft.com/office/drawing/2014/main" id="{FC792052-29C1-6D35-7F6B-79A599C639D7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0" name="Полилиния: фигура 15">
              <a:extLst>
                <a:ext uri="{FF2B5EF4-FFF2-40B4-BE49-F238E27FC236}">
                  <a16:creationId xmlns:a16="http://schemas.microsoft.com/office/drawing/2014/main" id="{E5A98475-EA25-67D6-4D5F-15BF00331AEB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1" name="Полилиния: фигура 16">
              <a:extLst>
                <a:ext uri="{FF2B5EF4-FFF2-40B4-BE49-F238E27FC236}">
                  <a16:creationId xmlns:a16="http://schemas.microsoft.com/office/drawing/2014/main" id="{81E5799A-EDA9-923F-4306-CDB07B346B8B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2" name="Полилиния: фигура 17">
              <a:extLst>
                <a:ext uri="{FF2B5EF4-FFF2-40B4-BE49-F238E27FC236}">
                  <a16:creationId xmlns:a16="http://schemas.microsoft.com/office/drawing/2014/main" id="{C8C06C37-DF23-F749-53E7-43DD5F9A34DA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3" name="Полилиния: фигура 18">
              <a:extLst>
                <a:ext uri="{FF2B5EF4-FFF2-40B4-BE49-F238E27FC236}">
                  <a16:creationId xmlns:a16="http://schemas.microsoft.com/office/drawing/2014/main" id="{18AB0B4B-8AF4-3CED-546E-8A0EDD0343AA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4" name="Полилиния: фигура 19">
              <a:extLst>
                <a:ext uri="{FF2B5EF4-FFF2-40B4-BE49-F238E27FC236}">
                  <a16:creationId xmlns:a16="http://schemas.microsoft.com/office/drawing/2014/main" id="{A09F4E37-B8CD-2EF9-2BDD-679C42F718DF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5" name="Полилиния: фигура 20">
              <a:extLst>
                <a:ext uri="{FF2B5EF4-FFF2-40B4-BE49-F238E27FC236}">
                  <a16:creationId xmlns:a16="http://schemas.microsoft.com/office/drawing/2014/main" id="{9D8C252F-C832-C60B-67B3-B6D013188DB3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6" name="Полилиния: фигура 21">
              <a:extLst>
                <a:ext uri="{FF2B5EF4-FFF2-40B4-BE49-F238E27FC236}">
                  <a16:creationId xmlns:a16="http://schemas.microsoft.com/office/drawing/2014/main" id="{FA7900B1-7A25-63CF-0588-70A25C00B663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7" name="Полилиния: фигура 22">
              <a:extLst>
                <a:ext uri="{FF2B5EF4-FFF2-40B4-BE49-F238E27FC236}">
                  <a16:creationId xmlns:a16="http://schemas.microsoft.com/office/drawing/2014/main" id="{EFB55E02-77C2-7DAA-FBBD-AAD9F92F0831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8" name="Полилиния: фигура 23">
              <a:extLst>
                <a:ext uri="{FF2B5EF4-FFF2-40B4-BE49-F238E27FC236}">
                  <a16:creationId xmlns:a16="http://schemas.microsoft.com/office/drawing/2014/main" id="{30535304-E628-32AB-C6BA-19E520C656BF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9" name="Полилиния: фигура 24">
              <a:extLst>
                <a:ext uri="{FF2B5EF4-FFF2-40B4-BE49-F238E27FC236}">
                  <a16:creationId xmlns:a16="http://schemas.microsoft.com/office/drawing/2014/main" id="{78104E2D-A620-47E2-40F3-A995004EE446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0" name="Полилиния: фигура 25">
              <a:extLst>
                <a:ext uri="{FF2B5EF4-FFF2-40B4-BE49-F238E27FC236}">
                  <a16:creationId xmlns:a16="http://schemas.microsoft.com/office/drawing/2014/main" id="{8EB92C67-7F68-803C-FB9E-2D13E650E6A1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1" name="Полилиния: фигура 26">
              <a:extLst>
                <a:ext uri="{FF2B5EF4-FFF2-40B4-BE49-F238E27FC236}">
                  <a16:creationId xmlns:a16="http://schemas.microsoft.com/office/drawing/2014/main" id="{3E0B4E90-F08C-B5ED-761E-838F2F9D531E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2" name="Полилиния: фигура 27">
              <a:extLst>
                <a:ext uri="{FF2B5EF4-FFF2-40B4-BE49-F238E27FC236}">
                  <a16:creationId xmlns:a16="http://schemas.microsoft.com/office/drawing/2014/main" id="{B6C8B631-B5E5-473B-FD01-2491F51BF4AA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3" name="Полилиния: фигура 28">
              <a:extLst>
                <a:ext uri="{FF2B5EF4-FFF2-40B4-BE49-F238E27FC236}">
                  <a16:creationId xmlns:a16="http://schemas.microsoft.com/office/drawing/2014/main" id="{380F7E94-40B3-49EA-38A2-A4683915276E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4" name="Полилиния: фигура 29">
              <a:extLst>
                <a:ext uri="{FF2B5EF4-FFF2-40B4-BE49-F238E27FC236}">
                  <a16:creationId xmlns:a16="http://schemas.microsoft.com/office/drawing/2014/main" id="{F9385ADB-6D1B-C79D-F5BB-B03F408AFC6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5" name="Полилиния: фигура 30">
              <a:extLst>
                <a:ext uri="{FF2B5EF4-FFF2-40B4-BE49-F238E27FC236}">
                  <a16:creationId xmlns:a16="http://schemas.microsoft.com/office/drawing/2014/main" id="{00D97A09-43D0-4152-831C-C7744B4FE7E6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6" name="Полилиния: фигура 31">
              <a:extLst>
                <a:ext uri="{FF2B5EF4-FFF2-40B4-BE49-F238E27FC236}">
                  <a16:creationId xmlns:a16="http://schemas.microsoft.com/office/drawing/2014/main" id="{83CFD5B5-DF45-F681-5596-E631C837531E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pic>
          <p:nvPicPr>
            <p:cNvPr id="217" name="Рисунок 216">
              <a:extLst>
                <a:ext uri="{FF2B5EF4-FFF2-40B4-BE49-F238E27FC236}">
                  <a16:creationId xmlns:a16="http://schemas.microsoft.com/office/drawing/2014/main" id="{5AED15A4-4D29-1A14-4213-148543BBC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>
              <a:extLst>
                <a:ext uri="{FF2B5EF4-FFF2-40B4-BE49-F238E27FC236}">
                  <a16:creationId xmlns:a16="http://schemas.microsoft.com/office/drawing/2014/main" id="{D613CEB1-BB3C-206D-6D01-E1CB7887B429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19" name="Полилиния: фигура 34">
              <a:extLst>
                <a:ext uri="{FF2B5EF4-FFF2-40B4-BE49-F238E27FC236}">
                  <a16:creationId xmlns:a16="http://schemas.microsoft.com/office/drawing/2014/main" id="{69F35FD4-E9E3-2671-1E63-C0ECA01A6C97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0" name="Полилиния: фигура 35">
              <a:extLst>
                <a:ext uri="{FF2B5EF4-FFF2-40B4-BE49-F238E27FC236}">
                  <a16:creationId xmlns:a16="http://schemas.microsoft.com/office/drawing/2014/main" id="{6DDAF0B9-15C9-D0FE-7E34-9051A84DDBB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21" name="Полилиния: фигура 36">
              <a:extLst>
                <a:ext uri="{FF2B5EF4-FFF2-40B4-BE49-F238E27FC236}">
                  <a16:creationId xmlns:a16="http://schemas.microsoft.com/office/drawing/2014/main" id="{BB968C32-6E31-7C3C-54D5-B0EED92672B1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B78984E-BF6A-592D-77E7-74F307B3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40" y="324562"/>
            <a:ext cx="5562600" cy="620919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dirty="0">
                <a:solidFill>
                  <a:srgbClr val="FFFFFF"/>
                </a:solidFill>
              </a:rPr>
              <a:t>ДОПОЛНИТЕЛЬНЫЙ ФУНКЦИОНАЛ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933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347472" y="320040"/>
            <a:ext cx="3497322" cy="621792"/>
          </a:xfrm>
          <a:prstGeom prst="roundRect">
            <a:avLst>
              <a:gd name="adj" fmla="val 187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188720"/>
            <a:ext cx="11541659" cy="5029200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20040"/>
            <a:ext cx="3223002" cy="621792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FFFFFF"/>
                </a:solidFill>
              </a:rPr>
              <a:t>АРХИТЕКТУРА И СТЕК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81328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Компоненты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1920240"/>
            <a:ext cx="6309360" cy="658368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bIns="18288" rtlCol="0" anchor="ctr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Frontend  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nginx + React-приложение для обеих ролей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688336"/>
            <a:ext cx="6309360" cy="658368"/>
          </a:xfrm>
          <a:prstGeom prst="roundRect">
            <a:avLst>
              <a:gd name="adj" fmla="val 18000"/>
            </a:avLst>
          </a:prstGeom>
          <a:solidFill>
            <a:srgbClr val="E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bIns="18288" rtlCol="0" anchor="ctr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Backend · FastAPI  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Монолит со слабо связанными модулями, OpenAPI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456432"/>
            <a:ext cx="3063240" cy="658368"/>
          </a:xfrm>
          <a:prstGeom prst="roundRect">
            <a:avLst>
              <a:gd name="adj" fmla="val 180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bIns="18288" rtlCol="0" anchor="ctr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assessment/ 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тестирование</a:t>
            </a:r>
          </a:p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IRT и банк заданий, ядро без БД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3456432"/>
            <a:ext cx="3063240" cy="658368"/>
          </a:xfrm>
          <a:prstGeom prst="roundRect">
            <a:avLst>
              <a:gd name="adj" fmla="val 18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bIns="18288" rtlCol="0" anchor="ctr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matching/ 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подбор</a:t>
            </a:r>
          </a:p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разбор запроса и ранжирование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224528"/>
            <a:ext cx="6309360" cy="658368"/>
          </a:xfrm>
          <a:prstGeom prst="roundRect">
            <a:avLst>
              <a:gd name="adj" fmla="val 18000"/>
            </a:avLst>
          </a:prstGeom>
          <a:solidFill>
            <a:srgbClr val="E6E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bIns="18288" rtlCol="0" anchor="ctr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fsp/  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Контракты ФСП ID и реестра достижений, сейчас моки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992624"/>
            <a:ext cx="6309360" cy="658368"/>
          </a:xfrm>
          <a:prstGeom prst="roundRect">
            <a:avLst>
              <a:gd name="adj" fmla="val 1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bIns="18288" rtlCol="0" anchor="ctr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PostgreSQL  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Инварианты держит база: частичные уникальные индексы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779007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5556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Валидация прогоняет тот же код ядра, что работает в приложении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148132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Стек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1865376"/>
            <a:ext cx="4160520" cy="1097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FastAPI · SQLAlchemy · PostgreSQL · Pydantic</a:t>
            </a:r>
          </a:p>
          <a:p>
            <a:pPr marL="0" marR="0" lvl="0" indent="0" algn="l" defTabSz="91422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React 19 · TypeScript · Mantine 8 · Vite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017520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Безопасность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3401568"/>
            <a:ext cx="4160520" cy="1097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argon2, JWT в httpOnly-cookie, отзыв сессии при выходе, роли на уровне API, согласия по 152-ФЗ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553712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Точки расширения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4937759"/>
            <a:ext cx="4160520" cy="1097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LLM вместо правил разбора, Keycloak вместо мока ФСП ID, API реестра ФСП, пополнение банка заданий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223760" y="1554480"/>
            <a:ext cx="0" cy="4343400"/>
          </a:xfrm>
          <a:prstGeom prst="line">
            <a:avLst/>
          </a:prstGeom>
          <a:ln w="12700">
            <a:solidFill>
              <a:srgbClr val="E0DA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347472" y="320040"/>
            <a:ext cx="5299710" cy="621792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rgbClr val="520977"/>
                </a:solidFill>
              </a:rPr>
              <a:t>Честно о прототипе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926080"/>
          </a:xfrm>
        </p:spPr>
        <p:txBody>
          <a:bodyPr wrap="square" lIns="0" tIns="0" rIns="0" bIns="0">
            <a:noAutofit/>
          </a:bodyPr>
          <a:lstStyle/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</a:rPr>
              <a:t>Банк заданий мал и не откалиброван на реальных ответах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</a:rPr>
              <a:t>ФСП ID и реестр — моки, достижения выдуманы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</a:rPr>
              <a:t>Разбор текста — правила, без LLM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rgbClr val="520977"/>
                </a:solidFill>
              </a:rPr>
              <a:t>Концепции вне MVP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926080"/>
          </a:xfrm>
        </p:spPr>
        <p:txBody>
          <a:bodyPr wrap="square" lIns="0" tIns="0" rIns="0" bIns="0">
            <a:noAutofit/>
          </a:bodyPr>
          <a:lstStyle/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</a:rPr>
              <a:t>Проверка компании по ИНН и корпоративной почте</a:t>
            </a:r>
            <a:endParaRPr lang="ru-RU">
              <a:solidFill>
                <a:schemeClr val="tx1"/>
              </a:solidFill>
            </a:endParaRP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</a:rPr>
              <a:t>Репутация работодателя и лимит приглашений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</a:rPr>
              <a:t>Webhooks и API для ATS: Huntflow, Talantix, Potok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dirty="0">
                <a:solidFill>
                  <a:srgbClr val="520977"/>
                </a:solidFill>
              </a:rPr>
              <a:t>Следующая версия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926080"/>
          </a:xfrm>
        </p:spPr>
        <p:txBody>
          <a:bodyPr wrap="square" lIns="0" tIns="0" rIns="0" bIns="0">
            <a:noAutofit/>
          </a:bodyPr>
          <a:lstStyle/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</a:rPr>
              <a:t>Калибровка заданий на реальных ответах</a:t>
            </a:r>
            <a:endParaRPr lang="ru-RU">
              <a:solidFill>
                <a:schemeClr val="tx1"/>
              </a:solidFill>
            </a:endParaRP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</a:rPr>
              <a:t>Расширение банка — главный рычаг точности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</a:rPr>
              <a:t>Подключение Keycloak и реестра ФСП</a:t>
            </a:r>
          </a:p>
          <a:p>
            <a:pPr marL="182880" indent="-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500" b="0" dirty="0">
                <a:solidFill>
                  <a:srgbClr val="1C1D22"/>
                </a:solidFill>
              </a:rPr>
              <a:t>LLM для разбора резюме и потребности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20040"/>
            <a:ext cx="5025390" cy="621792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FFFFFF"/>
                </a:solidFill>
              </a:rPr>
              <a:t>ОГРАНИЧЕНИЯ И ПЛАН РАЗВИТИЯ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800" b="1">
                <a:solidFill>
                  <a:srgbClr val="FF0053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347472" y="320040"/>
            <a:ext cx="3852624" cy="621792"/>
          </a:xfrm>
          <a:prstGeom prst="roundRect">
            <a:avLst>
              <a:gd name="adj" fmla="val 18700"/>
            </a:avLst>
          </a:prstGeom>
          <a:solidFill>
            <a:srgbClr val="520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20040"/>
            <a:ext cx="3578304" cy="621792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FFFFFF"/>
                </a:solidFill>
              </a:rPr>
              <a:t>МАТЕРИАЛЫ И ССЫЛКИ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2926080" cy="712587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520977"/>
                </a:solidFill>
              </a:rPr>
              <a:t>Репозиторий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2926080" cy="712587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dirty="0">
                <a:solidFill>
                  <a:srgbClr val="520977"/>
                </a:solidFill>
              </a:rPr>
              <a:t>Запуск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2926080" cy="712587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520977"/>
                </a:solidFill>
              </a:rPr>
              <a:t>Документация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4274016"/>
            <a:ext cx="2926080" cy="712587"/>
          </a:xfrm>
        </p:spPr>
        <p:txBody>
          <a:bodyPr wrap="square" lIns="0" tIns="0" rIns="0" bIns="0"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 dirty="0">
                <a:solidFill>
                  <a:srgbClr val="520977"/>
                </a:solidFill>
              </a:rPr>
              <a:t>Демо-входы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6160" y="1695025"/>
            <a:ext cx="822960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>
              <a:spcAft>
                <a:spcPts val="400"/>
              </a:spcAft>
            </a:pPr>
            <a:r>
              <a:rPr lang="en-US" sz="1400" dirty="0">
                <a:solidFill>
                  <a:srgbClr val="1C1D22"/>
                </a:solidFill>
              </a:rPr>
              <a:t>https://github.com/zhurich/lct-fsp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552035"/>
            <a:ext cx="822960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>
              <a:spcAft>
                <a:spcPts val="400"/>
              </a:spcAft>
            </a:pPr>
            <a:r>
              <a:rPr lang="en-US" sz="1400" dirty="0">
                <a:solidFill>
                  <a:srgbClr val="1C1D22"/>
                </a:solidFill>
              </a:rPr>
              <a:t>docker compose up --build -d  ·  локально: Python 3.13 и Node.js 20, шаги — в README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409044"/>
            <a:ext cx="822960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docs/documentation.pdf: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архитектура, механики, валидация, интеграция с ФСП, API, запуск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274016"/>
            <a:ext cx="822960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C1D22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demo-employer@example.com  ·  demo-candidate@example.com  ·  пароль demo12345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6035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5556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Отчёт валидации воспроизводится командой python -m scripts.validate --out ../docs/validation_report.md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11917</TotalTime>
  <Words>2269</Words>
  <Application>Microsoft Office PowerPoint</Application>
  <PresentationFormat>Широкоэкранный</PresentationFormat>
  <Paragraphs>278</Paragraphs>
  <Slides>20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Montserrat</vt:lpstr>
      <vt:lpstr>Wingdings</vt:lpstr>
      <vt:lpstr>Для Академия инноваторов 16_9</vt:lpstr>
      <vt:lpstr>Команда «PragmatismForever»</vt:lpstr>
      <vt:lpstr>Команда «PragmatismForever»</vt:lpstr>
      <vt:lpstr>Команда «PragmatismForever»</vt:lpstr>
      <vt:lpstr>Команда «PragmatismForever»</vt:lpstr>
      <vt:lpstr>КОРОТКО О РЕШЕНИИ</vt:lpstr>
      <vt:lpstr>ПРОБЛЕМА И АУДИТОРИЯ</vt:lpstr>
      <vt:lpstr>ОБРАТНАЯ МЕХАНИКА</vt:lpstr>
      <vt:lpstr>СКВОЗНОЙ СЦЕНАРИЙ</vt:lpstr>
      <vt:lpstr>РАНЖИРОВАНИЕ</vt:lpstr>
      <vt:lpstr>ОБЪЯСНИМОСТЬ ВЫДАЧИ</vt:lpstr>
      <vt:lpstr>МЕХАНИКА ТЕСТИРОВАНИЯ</vt:lpstr>
      <vt:lpstr>УСТОЙЧИВОСТЬ К УТЕЧКЕ</vt:lpstr>
      <vt:lpstr>ТОЧНОСТЬ КАТЕГОРИИ</vt:lpstr>
      <vt:lpstr>ВАЛИДАЦИЯ ПОДБОРА</vt:lpstr>
      <vt:lpstr>ИНТЕГРАЦИЯ С ФСП</vt:lpstr>
      <vt:lpstr>ПЛАТФОРМА В ДЕЙСТВИИ</vt:lpstr>
      <vt:lpstr>ДОПОЛНИТЕЛЬНЫЙ ФУНКЦИОНАЛ</vt:lpstr>
      <vt:lpstr>АРХИТЕКТУРА И СТЕК</vt:lpstr>
      <vt:lpstr>ОГРАНИЧЕНИЯ И ПЛАН РАЗВИТИЯ</vt:lpstr>
      <vt:lpstr>МАТЕРИАЛЫ И 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Денис</cp:lastModifiedBy>
  <cp:revision>112</cp:revision>
  <dcterms:created xsi:type="dcterms:W3CDTF">2023-05-15T07:36:23Z</dcterms:created>
  <dcterms:modified xsi:type="dcterms:W3CDTF">2026-10-11T16:53:30Z</dcterms:modified>
</cp:coreProperties>
</file>